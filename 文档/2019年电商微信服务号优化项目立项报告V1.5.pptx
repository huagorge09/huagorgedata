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01" r:id="rId2"/>
    <p:sldId id="584" r:id="rId3"/>
    <p:sldId id="588" r:id="rId4"/>
    <p:sldId id="590" r:id="rId5"/>
    <p:sldId id="591" r:id="rId6"/>
    <p:sldId id="585" r:id="rId7"/>
    <p:sldId id="589" r:id="rId8"/>
    <p:sldId id="592" r:id="rId9"/>
    <p:sldId id="593" r:id="rId10"/>
    <p:sldId id="595" r:id="rId11"/>
    <p:sldId id="581" r:id="rId12"/>
    <p:sldId id="594" r:id="rId13"/>
    <p:sldId id="587" r:id="rId14"/>
    <p:sldId id="583" r:id="rId15"/>
    <p:sldId id="273" r:id="rId16"/>
  </p:sldIdLst>
  <p:sldSz cx="9144000" cy="5143500" type="screen16x9"/>
  <p:notesSz cx="6735763" cy="98663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F6343E5-DF63-46CA-A1EE-A14B8CE7771C}">
          <p14:sldIdLst>
            <p14:sldId id="301"/>
            <p14:sldId id="584"/>
            <p14:sldId id="588"/>
            <p14:sldId id="590"/>
            <p14:sldId id="591"/>
            <p14:sldId id="585"/>
            <p14:sldId id="589"/>
            <p14:sldId id="592"/>
            <p14:sldId id="593"/>
            <p14:sldId id="595"/>
            <p14:sldId id="581"/>
            <p14:sldId id="594"/>
            <p14:sldId id="587"/>
            <p14:sldId id="583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2" userDrawn="1">
          <p15:clr>
            <a:srgbClr val="A4A3A4"/>
          </p15:clr>
        </p15:guide>
        <p15:guide id="2" pos="2140" userDrawn="1">
          <p15:clr>
            <a:srgbClr val="A4A3A4"/>
          </p15:clr>
        </p15:guide>
        <p15:guide id="3" orient="horz" pos="3108" userDrawn="1">
          <p15:clr>
            <a:srgbClr val="A4A3A4"/>
          </p15:clr>
        </p15:guide>
        <p15:guide id="4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5B5D"/>
    <a:srgbClr val="733D4D"/>
    <a:srgbClr val="EBD4CB"/>
    <a:srgbClr val="DA9F93"/>
    <a:srgbClr val="B6465F"/>
    <a:srgbClr val="890620"/>
    <a:srgbClr val="F5E9E2"/>
    <a:srgbClr val="E3B5A4"/>
    <a:srgbClr val="D44D5C"/>
    <a:srgbClr val="FE5F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32" autoAdjust="0"/>
    <p:restoredTop sz="97474" autoAdjust="0"/>
  </p:normalViewPr>
  <p:slideViewPr>
    <p:cSldViewPr snapToGrid="0">
      <p:cViewPr varScale="1">
        <p:scale>
          <a:sx n="231" d="100"/>
          <a:sy n="231" d="100"/>
        </p:scale>
        <p:origin x="186" y="19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670" y="60"/>
      </p:cViewPr>
      <p:guideLst>
        <p:guide orient="horz" pos="2862"/>
        <p:guide pos="2140"/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maxq\Documents\worklog\&#20844;&#21496;%20-%20&#32593;&#32476;&#37329;&#34701;&#37096;\4-&#30740;&#21457;\&#20840;&#24180;&#38656;&#27714;&#24037;&#20316;&#24773;&#20917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年电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商需求和生产变更情况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业务需求签报数量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Sheet4!$A$1:$J$1</c:f>
              <c:strCache>
                <c:ptCount val="10"/>
                <c:pt idx="0">
                  <c:v>3月份</c:v>
                </c:pt>
                <c:pt idx="1">
                  <c:v>4月份</c:v>
                </c:pt>
                <c:pt idx="2">
                  <c:v>5月份</c:v>
                </c:pt>
                <c:pt idx="3">
                  <c:v>6月份</c:v>
                </c:pt>
                <c:pt idx="4">
                  <c:v>7月份</c:v>
                </c:pt>
                <c:pt idx="5">
                  <c:v>8月份</c:v>
                </c:pt>
                <c:pt idx="6">
                  <c:v>9月份</c:v>
                </c:pt>
                <c:pt idx="7">
                  <c:v>10月份</c:v>
                </c:pt>
                <c:pt idx="8">
                  <c:v>11月份</c:v>
                </c:pt>
                <c:pt idx="9">
                  <c:v>12月份</c:v>
                </c:pt>
              </c:strCache>
            </c:strRef>
          </c:cat>
          <c:val>
            <c:numRef>
              <c:f>Sheet4!$A$3:$J$3</c:f>
              <c:numCache>
                <c:formatCode>0_ </c:formatCode>
                <c:ptCount val="10"/>
                <c:pt idx="0">
                  <c:v>2</c:v>
                </c:pt>
                <c:pt idx="1">
                  <c:v>6</c:v>
                </c:pt>
                <c:pt idx="2">
                  <c:v>5</c:v>
                </c:pt>
                <c:pt idx="3">
                  <c:v>6</c:v>
                </c:pt>
                <c:pt idx="4">
                  <c:v>10</c:v>
                </c:pt>
                <c:pt idx="5">
                  <c:v>5</c:v>
                </c:pt>
                <c:pt idx="6">
                  <c:v>4</c:v>
                </c:pt>
                <c:pt idx="7">
                  <c:v>6</c:v>
                </c:pt>
                <c:pt idx="8">
                  <c:v>6</c:v>
                </c:pt>
                <c:pt idx="9">
                  <c:v>7</c:v>
                </c:pt>
              </c:numCache>
            </c:numRef>
          </c:val>
          <c:smooth val="0"/>
        </c:ser>
        <c:ser>
          <c:idx val="0"/>
          <c:order val="1"/>
          <c:tx>
            <c:v>生产变更次数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Sheet4!$A$1:$J$1</c:f>
              <c:strCache>
                <c:ptCount val="10"/>
                <c:pt idx="0">
                  <c:v>3月份</c:v>
                </c:pt>
                <c:pt idx="1">
                  <c:v>4月份</c:v>
                </c:pt>
                <c:pt idx="2">
                  <c:v>5月份</c:v>
                </c:pt>
                <c:pt idx="3">
                  <c:v>6月份</c:v>
                </c:pt>
                <c:pt idx="4">
                  <c:v>7月份</c:v>
                </c:pt>
                <c:pt idx="5">
                  <c:v>8月份</c:v>
                </c:pt>
                <c:pt idx="6">
                  <c:v>9月份</c:v>
                </c:pt>
                <c:pt idx="7">
                  <c:v>10月份</c:v>
                </c:pt>
                <c:pt idx="8">
                  <c:v>11月份</c:v>
                </c:pt>
                <c:pt idx="9">
                  <c:v>12月份</c:v>
                </c:pt>
              </c:strCache>
            </c:strRef>
          </c:cat>
          <c:val>
            <c:numRef>
              <c:f>Sheet4!$A$2:$J$2</c:f>
              <c:numCache>
                <c:formatCode>0_ 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8</c:v>
                </c:pt>
                <c:pt idx="4">
                  <c:v>6</c:v>
                </c:pt>
                <c:pt idx="5">
                  <c:v>11</c:v>
                </c:pt>
                <c:pt idx="6">
                  <c:v>2</c:v>
                </c:pt>
                <c:pt idx="7">
                  <c:v>5</c:v>
                </c:pt>
                <c:pt idx="8">
                  <c:v>7</c:v>
                </c:pt>
                <c:pt idx="9">
                  <c:v>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5955536"/>
        <c:axId val="1815940848"/>
      </c:lineChart>
      <c:catAx>
        <c:axId val="181595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5940848"/>
        <c:crosses val="autoZero"/>
        <c:auto val="1"/>
        <c:lblAlgn val="ctr"/>
        <c:lblOffset val="100"/>
        <c:noMultiLvlLbl val="0"/>
      </c:catAx>
      <c:valAx>
        <c:axId val="1815940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595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pPr>
            <a:r>
              <a:rPr lang="zh-CN" b="1"/>
              <a:t>资源投入及费用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UE费用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迭代一</c:v>
                </c:pt>
                <c:pt idx="1">
                  <c:v>迭代二</c:v>
                </c:pt>
                <c:pt idx="2">
                  <c:v>迭代三</c:v>
                </c:pt>
                <c:pt idx="3">
                  <c:v>迭代四</c:v>
                </c:pt>
              </c:strCache>
            </c:strRef>
          </c:cat>
          <c:val>
            <c:numRef>
              <c:f>Sheet1!$B$2:$B$5</c:f>
              <c:numCache>
                <c:formatCode>0.0"万"</c:formatCode>
                <c:ptCount val="4"/>
                <c:pt idx="0">
                  <c:v>25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开发费用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迭代一</c:v>
                </c:pt>
                <c:pt idx="1">
                  <c:v>迭代二</c:v>
                </c:pt>
                <c:pt idx="2">
                  <c:v>迭代三</c:v>
                </c:pt>
                <c:pt idx="3">
                  <c:v>迭代四</c:v>
                </c:pt>
              </c:strCache>
            </c:strRef>
          </c:cat>
          <c:val>
            <c:numRef>
              <c:f>Sheet1!$C$2:$C$5</c:f>
              <c:numCache>
                <c:formatCode>0.0"万"</c:formatCode>
                <c:ptCount val="4"/>
                <c:pt idx="0">
                  <c:v>28.5</c:v>
                </c:pt>
                <c:pt idx="1">
                  <c:v>19</c:v>
                </c:pt>
                <c:pt idx="2">
                  <c:v>19</c:v>
                </c:pt>
                <c:pt idx="3">
                  <c:v>19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5977296"/>
        <c:axId val="1815976208"/>
      </c:barChart>
      <c:catAx>
        <c:axId val="181597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pPr>
            <a:endParaRPr lang="zh-CN"/>
          </a:p>
        </c:txPr>
        <c:crossAx val="1815976208"/>
        <c:crosses val="autoZero"/>
        <c:auto val="1"/>
        <c:lblAlgn val="ctr"/>
        <c:lblOffset val="100"/>
        <c:noMultiLvlLbl val="0"/>
      </c:catAx>
      <c:valAx>
        <c:axId val="1815976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&quot;万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pPr>
            <a:endParaRPr lang="zh-CN"/>
          </a:p>
        </c:txPr>
        <c:crossAx val="181597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atin typeface="微软雅黑 Light" panose="020B0502040204020203" pitchFamily="34" charset="-122"/>
          <a:ea typeface="微软雅黑 Light" panose="020B0502040204020203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03DE86-80A4-4641-AEE6-2E511B798B77}" type="doc">
      <dgm:prSet loTypeId="urn:microsoft.com/office/officeart/2005/8/layout/cycle4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A244DBF0-0400-4B39-B631-25FC39623FFA}">
      <dgm:prSet phldrT="[文本]"/>
      <dgm:spPr/>
      <dgm:t>
        <a:bodyPr/>
        <a:lstStyle/>
        <a:p>
          <a:r>
            <a:rPr lang="zh-CN" altLang="en-US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日志和监控报表</a:t>
          </a:r>
          <a:endParaRPr lang="zh-CN" altLang="en-US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70D383B3-5A2C-4C0C-B9A7-4760056BB48B}" type="parTrans" cxnId="{018D78E6-5D0F-4821-9ED0-43FF67031AE1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43CCF1AB-A0C6-44F0-92C9-BE76DF223B67}" type="sibTrans" cxnId="{018D78E6-5D0F-4821-9ED0-43FF67031AE1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8E576C11-8570-49DD-AC80-9C82B0F33732}">
      <dgm:prSet phldrT="[文本]" custT="1"/>
      <dgm:spPr/>
      <dgm:t>
        <a:bodyPr/>
        <a:lstStyle/>
        <a:p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实现更加标准化的日志输出，实现通过日志监控获知系统运行情况</a:t>
          </a:r>
          <a:endParaRPr lang="zh-CN" altLang="en-US" sz="6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C0B34FC1-C99D-4E65-BB91-0A4755E350E8}" type="parTrans" cxnId="{A3400E8E-3588-4FE6-8692-B7431C5C3ED2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1503B96F-EC0E-4826-BE9B-4ADCEB37A115}" type="sibTrans" cxnId="{A3400E8E-3588-4FE6-8692-B7431C5C3ED2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38616940-CF54-4F15-BDF2-8947E7B68AB7}">
      <dgm:prSet phldrT="[文本]"/>
      <dgm:spPr/>
      <dgm:t>
        <a:bodyPr/>
        <a:lstStyle/>
        <a:p>
          <a:r>
            <a:rPr lang="zh-CN" altLang="en-US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开发效率提升</a:t>
          </a:r>
          <a:endParaRPr lang="zh-CN" altLang="en-US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DDDBF06F-1182-408F-AEAD-F632C213617F}" type="parTrans" cxnId="{62539E96-CC52-4392-B3A1-60D300430786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3744BC08-CBE7-44E0-B7AA-70A9EAEF5CB7}" type="sibTrans" cxnId="{62539E96-CC52-4392-B3A1-60D300430786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6FB56772-A03B-49B9-AAA2-2D052F528C36}">
      <dgm:prSet phldrT="[文本]" custT="1"/>
      <dgm:spPr/>
      <dgm:t>
        <a:bodyPr/>
        <a:lstStyle/>
        <a:p>
          <a:r>
            <a:rPr lang="zh-CN" altLang="en-US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接口稳定</a:t>
          </a:r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，不随版本更新而发生重大调整，导致每需求工作量提高</a:t>
          </a:r>
          <a:endParaRPr lang="zh-CN" altLang="en-US" sz="6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4B7975A5-3D58-4C15-9CD8-96B0CF4B9A9B}" type="parTrans" cxnId="{8DA63672-E124-47CB-B3A5-5DD9DF22784A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ECDB286E-1F60-47D4-9F22-BC70BBD55ABC}" type="sibTrans" cxnId="{8DA63672-E124-47CB-B3A5-5DD9DF22784A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7762A12D-FABE-47D5-9DF6-3791A315F8FA}">
      <dgm:prSet phldrT="[文本]"/>
      <dgm:spPr/>
      <dgm:t>
        <a:bodyPr/>
        <a:lstStyle/>
        <a:p>
          <a:r>
            <a:rPr lang="zh-CN" altLang="en-US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代码质量和可维护性提升</a:t>
          </a:r>
          <a:endParaRPr lang="zh-CN" altLang="en-US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E36A1D3E-917A-4E7E-900C-F71E74A54634}" type="parTrans" cxnId="{5A2A73C6-95F6-482C-93C8-58D170CD84F3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01FD5B91-B8F0-434F-98BD-A0F90FD94E45}" type="sibTrans" cxnId="{5A2A73C6-95F6-482C-93C8-58D170CD84F3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27512F27-F54F-4B70-A1AC-5D369CC945A8}">
      <dgm:prSet phldrT="[文本]" custT="1"/>
      <dgm:spPr/>
      <dgm:t>
        <a:bodyPr/>
        <a:lstStyle/>
        <a:p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成功实现日常</a:t>
          </a:r>
          <a:r>
            <a:rPr lang="zh-CN" altLang="en-US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静态代码检查</a:t>
          </a:r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，</a:t>
          </a:r>
          <a:r>
            <a:rPr lang="zh-CN" altLang="en-US" sz="600" b="1" dirty="0" smtClean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每日生成报表</a:t>
          </a:r>
          <a:r>
            <a:rPr lang="zh-CN" altLang="en-US" sz="600" dirty="0" smtClean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，报表中问题得</a:t>
          </a:r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到持续更新</a:t>
          </a:r>
          <a:endParaRPr lang="zh-CN" altLang="en-US" sz="6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0C26CCD6-CE09-4869-809E-BC514DD154BF}" type="parTrans" cxnId="{8F1781D5-6247-40E5-AB42-2FFF01F77805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EAAC23FA-111E-4515-B2C4-73BA2E3A0C9D}" type="sibTrans" cxnId="{8F1781D5-6247-40E5-AB42-2FFF01F77805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BA0A5892-C278-4763-B5C2-0B8F69F8893A}">
      <dgm:prSet phldrT="[文本]"/>
      <dgm:spPr/>
      <dgm:t>
        <a:bodyPr/>
        <a:lstStyle/>
        <a:p>
          <a:r>
            <a:rPr lang="zh-CN" altLang="en-US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测试效率提升、测试覆盖率提高</a:t>
          </a:r>
          <a:endParaRPr lang="zh-CN" altLang="en-US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D7699BE8-7624-4392-9610-8EACD2D9CFC7}" type="parTrans" cxnId="{8CD8BF38-7C6C-4B6E-BD03-6315C3D044A8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625CCE1C-4887-4645-A026-60FD27963048}" type="sibTrans" cxnId="{8CD8BF38-7C6C-4B6E-BD03-6315C3D044A8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7AE8021D-C6EA-438A-97AA-99FEA45ABDAF}">
      <dgm:prSet phldrT="[文本]" custT="1"/>
      <dgm:spPr/>
      <dgm:t>
        <a:bodyPr/>
        <a:lstStyle/>
        <a:p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实现</a:t>
          </a:r>
          <a:r>
            <a:rPr lang="en-US" altLang="zh-CN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JAVA</a:t>
          </a:r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代码自动化回归测试覆盖率（行覆盖率）</a:t>
          </a:r>
          <a:r>
            <a:rPr lang="en-US" altLang="zh-CN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75%</a:t>
          </a:r>
          <a:r>
            <a:rPr lang="zh-CN" altLang="en-US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以上</a:t>
          </a:r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；实现页面覆盖率</a:t>
          </a:r>
          <a:r>
            <a:rPr lang="en-US" altLang="zh-CN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90%</a:t>
          </a:r>
          <a:r>
            <a:rPr lang="zh-CN" altLang="en-US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以上</a:t>
          </a:r>
          <a:endParaRPr lang="zh-CN" altLang="en-US" sz="800" dirty="0">
            <a:solidFill>
              <a:srgbClr val="FF0000"/>
            </a:solidFill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68C63E4B-D98A-432F-ABBE-4FD88CA41DDB}" type="parTrans" cxnId="{61D92096-F8CF-4D01-955E-422211D9B72C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7DFA85D4-57BC-484C-A73D-09F7F2423B72}" type="sibTrans" cxnId="{61D92096-F8CF-4D01-955E-422211D9B72C}">
      <dgm:prSet/>
      <dgm:spPr/>
      <dgm:t>
        <a:bodyPr/>
        <a:lstStyle/>
        <a:p>
          <a:endParaRPr lang="zh-CN" altLang="en-US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1412F6CE-D419-4CE0-A4F7-7C7D9CB9F2E5}">
      <dgm:prSet phldrT="[文本]" custT="1"/>
      <dgm:spPr/>
      <dgm:t>
        <a:bodyPr/>
        <a:lstStyle/>
        <a:p>
          <a:endParaRPr lang="zh-CN" altLang="en-US" sz="6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AB23A082-5023-45FA-BB6E-849D3C06A3FD}" type="parTrans" cxnId="{2D23E66C-623F-453D-BD3C-24447196724D}">
      <dgm:prSet/>
      <dgm:spPr/>
      <dgm:t>
        <a:bodyPr/>
        <a:lstStyle/>
        <a:p>
          <a:endParaRPr lang="zh-CN" altLang="en-US"/>
        </a:p>
      </dgm:t>
    </dgm:pt>
    <dgm:pt modelId="{90488632-827C-4313-BFCE-7AAD669980B6}" type="sibTrans" cxnId="{2D23E66C-623F-453D-BD3C-24447196724D}">
      <dgm:prSet/>
      <dgm:spPr/>
      <dgm:t>
        <a:bodyPr/>
        <a:lstStyle/>
        <a:p>
          <a:endParaRPr lang="zh-CN" altLang="en-US"/>
        </a:p>
      </dgm:t>
    </dgm:pt>
    <dgm:pt modelId="{1AB424BA-F884-4B3B-B759-55BBC4DAD005}">
      <dgm:prSet phldrT="[文本]" custT="1"/>
      <dgm:spPr/>
      <dgm:t>
        <a:bodyPr/>
        <a:lstStyle/>
        <a:p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前端工程化带来工作量减少，业务需求量不变的情况下，</a:t>
          </a:r>
          <a:r>
            <a:rPr lang="zh-CN" altLang="en-US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代码变更减少</a:t>
          </a:r>
          <a:endParaRPr lang="zh-CN" altLang="en-US" sz="800" b="1" dirty="0">
            <a:solidFill>
              <a:srgbClr val="FF0000"/>
            </a:solidFill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55D42654-AD8C-498A-B70D-D0394260E72F}" type="parTrans" cxnId="{963E0B54-AEA2-48AA-B56F-B4F4DCBA206B}">
      <dgm:prSet/>
      <dgm:spPr/>
      <dgm:t>
        <a:bodyPr/>
        <a:lstStyle/>
        <a:p>
          <a:endParaRPr lang="zh-CN" altLang="en-US"/>
        </a:p>
      </dgm:t>
    </dgm:pt>
    <dgm:pt modelId="{AFE86E18-E3D1-4753-B476-AF4C3B5E6CFC}" type="sibTrans" cxnId="{963E0B54-AEA2-48AA-B56F-B4F4DCBA206B}">
      <dgm:prSet/>
      <dgm:spPr/>
      <dgm:t>
        <a:bodyPr/>
        <a:lstStyle/>
        <a:p>
          <a:endParaRPr lang="zh-CN" altLang="en-US"/>
        </a:p>
      </dgm:t>
    </dgm:pt>
    <dgm:pt modelId="{3E6B8791-65E0-417E-9A6B-2B074FAF5AB9}">
      <dgm:prSet phldrT="[文本]" custT="1"/>
      <dgm:spPr/>
      <dgm:t>
        <a:bodyPr/>
        <a:lstStyle/>
        <a:p>
          <a:endParaRPr lang="zh-CN" altLang="en-US" sz="6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1C68F18C-9FD6-4FA3-89DA-9A576287BE0A}" type="parTrans" cxnId="{EDB57AD2-2147-4890-A1EC-35FB7C5824F3}">
      <dgm:prSet/>
      <dgm:spPr/>
      <dgm:t>
        <a:bodyPr/>
        <a:lstStyle/>
        <a:p>
          <a:endParaRPr lang="zh-CN" altLang="en-US"/>
        </a:p>
      </dgm:t>
    </dgm:pt>
    <dgm:pt modelId="{B769C6B9-53CF-48F3-8CCD-7F596E45E7D6}" type="sibTrans" cxnId="{EDB57AD2-2147-4890-A1EC-35FB7C5824F3}">
      <dgm:prSet/>
      <dgm:spPr/>
      <dgm:t>
        <a:bodyPr/>
        <a:lstStyle/>
        <a:p>
          <a:endParaRPr lang="zh-CN" altLang="en-US"/>
        </a:p>
      </dgm:t>
    </dgm:pt>
    <dgm:pt modelId="{791DD321-86C6-4DCD-A731-C0BAC9197CFB}">
      <dgm:prSet phldrT="[文本]" custT="1"/>
      <dgm:spPr/>
      <dgm:t>
        <a:bodyPr/>
        <a:lstStyle/>
        <a:p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实现</a:t>
          </a:r>
          <a:r>
            <a:rPr lang="zh-CN" altLang="en-US" sz="800" b="1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每日推送</a:t>
          </a:r>
          <a:r>
            <a:rPr lang="zh-CN" altLang="en-US" sz="6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系统运行情况报表</a:t>
          </a:r>
          <a:endParaRPr lang="zh-CN" altLang="en-US" sz="6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gm:t>
    </dgm:pt>
    <dgm:pt modelId="{98A15541-90A4-40C4-AA8B-937793CAD42B}" type="parTrans" cxnId="{7334FBB6-6044-4636-824C-26E3BF1749D2}">
      <dgm:prSet/>
      <dgm:spPr/>
      <dgm:t>
        <a:bodyPr/>
        <a:lstStyle/>
        <a:p>
          <a:endParaRPr lang="zh-CN" altLang="en-US"/>
        </a:p>
      </dgm:t>
    </dgm:pt>
    <dgm:pt modelId="{2B93C5F1-CB9E-40EC-AB1F-7278C6EE3C21}" type="sibTrans" cxnId="{7334FBB6-6044-4636-824C-26E3BF1749D2}">
      <dgm:prSet/>
      <dgm:spPr/>
      <dgm:t>
        <a:bodyPr/>
        <a:lstStyle/>
        <a:p>
          <a:endParaRPr lang="zh-CN" altLang="en-US"/>
        </a:p>
      </dgm:t>
    </dgm:pt>
    <dgm:pt modelId="{8D230F1B-1389-478A-98E3-D1A01B1F9032}" type="pres">
      <dgm:prSet presAssocID="{3403DE86-80A4-4641-AEE6-2E511B798B7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C7BB0E3-4E92-42F8-88B5-83C5FBBD2C17}" type="pres">
      <dgm:prSet presAssocID="{3403DE86-80A4-4641-AEE6-2E511B798B77}" presName="children" presStyleCnt="0"/>
      <dgm:spPr/>
    </dgm:pt>
    <dgm:pt modelId="{69DA36E7-C075-4ACF-9924-5551F2DC52DC}" type="pres">
      <dgm:prSet presAssocID="{3403DE86-80A4-4641-AEE6-2E511B798B77}" presName="child1group" presStyleCnt="0"/>
      <dgm:spPr/>
    </dgm:pt>
    <dgm:pt modelId="{A8A1885F-F93E-4086-B687-F5BACDE23B8E}" type="pres">
      <dgm:prSet presAssocID="{3403DE86-80A4-4641-AEE6-2E511B798B77}" presName="child1" presStyleLbl="bgAcc1" presStyleIdx="0" presStyleCnt="4" custLinFactNeighborX="-19441" custLinFactNeighborY="1429"/>
      <dgm:spPr/>
      <dgm:t>
        <a:bodyPr/>
        <a:lstStyle/>
        <a:p>
          <a:endParaRPr lang="zh-CN" altLang="en-US"/>
        </a:p>
      </dgm:t>
    </dgm:pt>
    <dgm:pt modelId="{4489AEE2-D899-425A-92B6-48E1E362A087}" type="pres">
      <dgm:prSet presAssocID="{3403DE86-80A4-4641-AEE6-2E511B798B77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218DB71-7840-49C4-BA70-53FBE89D32E3}" type="pres">
      <dgm:prSet presAssocID="{3403DE86-80A4-4641-AEE6-2E511B798B77}" presName="child2group" presStyleCnt="0"/>
      <dgm:spPr/>
    </dgm:pt>
    <dgm:pt modelId="{F439DA50-2275-428D-A108-08454730AE07}" type="pres">
      <dgm:prSet presAssocID="{3403DE86-80A4-4641-AEE6-2E511B798B77}" presName="child2" presStyleLbl="bgAcc1" presStyleIdx="1" presStyleCnt="4" custLinFactNeighborX="19442" custLinFactNeighborY="1429"/>
      <dgm:spPr/>
      <dgm:t>
        <a:bodyPr/>
        <a:lstStyle/>
        <a:p>
          <a:endParaRPr lang="zh-CN" altLang="en-US"/>
        </a:p>
      </dgm:t>
    </dgm:pt>
    <dgm:pt modelId="{0D631131-E97E-448B-9542-387BA052252C}" type="pres">
      <dgm:prSet presAssocID="{3403DE86-80A4-4641-AEE6-2E511B798B77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ECA775-5056-4900-80BA-4ABAE80A4608}" type="pres">
      <dgm:prSet presAssocID="{3403DE86-80A4-4641-AEE6-2E511B798B77}" presName="child3group" presStyleCnt="0"/>
      <dgm:spPr/>
    </dgm:pt>
    <dgm:pt modelId="{CC871E26-D5C7-4017-AE22-450340B7125B}" type="pres">
      <dgm:prSet presAssocID="{3403DE86-80A4-4641-AEE6-2E511B798B77}" presName="child3" presStyleLbl="bgAcc1" presStyleIdx="2" presStyleCnt="4" custLinFactNeighborX="19442" custLinFactNeighborY="-476"/>
      <dgm:spPr/>
      <dgm:t>
        <a:bodyPr/>
        <a:lstStyle/>
        <a:p>
          <a:endParaRPr lang="zh-CN" altLang="en-US"/>
        </a:p>
      </dgm:t>
    </dgm:pt>
    <dgm:pt modelId="{5664C5AB-0737-44C3-8BD8-E9C3024AC78D}" type="pres">
      <dgm:prSet presAssocID="{3403DE86-80A4-4641-AEE6-2E511B798B77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918EE2C-CC75-4F43-973F-6BF51AA67462}" type="pres">
      <dgm:prSet presAssocID="{3403DE86-80A4-4641-AEE6-2E511B798B77}" presName="child4group" presStyleCnt="0"/>
      <dgm:spPr/>
    </dgm:pt>
    <dgm:pt modelId="{D298FC0C-6FA8-4F0D-B3D3-3E9429389B0C}" type="pres">
      <dgm:prSet presAssocID="{3403DE86-80A4-4641-AEE6-2E511B798B77}" presName="child4" presStyleLbl="bgAcc1" presStyleIdx="3" presStyleCnt="4" custLinFactNeighborX="-19441" custLinFactNeighborY="-953"/>
      <dgm:spPr/>
      <dgm:t>
        <a:bodyPr/>
        <a:lstStyle/>
        <a:p>
          <a:endParaRPr lang="zh-CN" altLang="en-US"/>
        </a:p>
      </dgm:t>
    </dgm:pt>
    <dgm:pt modelId="{B50563A0-5E0E-496F-AACB-D8D4E2737CCE}" type="pres">
      <dgm:prSet presAssocID="{3403DE86-80A4-4641-AEE6-2E511B798B77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497A4CB-D0E0-4530-8950-9577234C3BF8}" type="pres">
      <dgm:prSet presAssocID="{3403DE86-80A4-4641-AEE6-2E511B798B77}" presName="childPlaceholder" presStyleCnt="0"/>
      <dgm:spPr/>
    </dgm:pt>
    <dgm:pt modelId="{700B40F4-0C7A-406B-8E6F-22E29950BC00}" type="pres">
      <dgm:prSet presAssocID="{3403DE86-80A4-4641-AEE6-2E511B798B77}" presName="circle" presStyleCnt="0"/>
      <dgm:spPr/>
    </dgm:pt>
    <dgm:pt modelId="{54E4327E-EDC4-4C66-8214-09CDB24228FB}" type="pres">
      <dgm:prSet presAssocID="{3403DE86-80A4-4641-AEE6-2E511B798B77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2E2D780-A8DE-4B0E-9316-D9215B044081}" type="pres">
      <dgm:prSet presAssocID="{3403DE86-80A4-4641-AEE6-2E511B798B77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EBFA63D-D820-4325-8511-AFB3CF1B281B}" type="pres">
      <dgm:prSet presAssocID="{3403DE86-80A4-4641-AEE6-2E511B798B77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89300F8-3963-40A2-9E75-73A0267376A2}" type="pres">
      <dgm:prSet presAssocID="{3403DE86-80A4-4641-AEE6-2E511B798B77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27C11B1-C8B4-45D6-B0C1-6E7F69784AA3}" type="pres">
      <dgm:prSet presAssocID="{3403DE86-80A4-4641-AEE6-2E511B798B77}" presName="quadrantPlaceholder" presStyleCnt="0"/>
      <dgm:spPr/>
    </dgm:pt>
    <dgm:pt modelId="{D112DB66-846C-40BF-A523-98C3862BB9FA}" type="pres">
      <dgm:prSet presAssocID="{3403DE86-80A4-4641-AEE6-2E511B798B77}" presName="center1" presStyleLbl="fgShp" presStyleIdx="0" presStyleCnt="2"/>
      <dgm:spPr/>
    </dgm:pt>
    <dgm:pt modelId="{AE5831D3-6CC6-4097-926A-3C2785F9673F}" type="pres">
      <dgm:prSet presAssocID="{3403DE86-80A4-4641-AEE6-2E511B798B77}" presName="center2" presStyleLbl="fgShp" presStyleIdx="1" presStyleCnt="2"/>
      <dgm:spPr/>
    </dgm:pt>
  </dgm:ptLst>
  <dgm:cxnLst>
    <dgm:cxn modelId="{8DA63672-E124-47CB-B3A5-5DD9DF22784A}" srcId="{38616940-CF54-4F15-BDF2-8947E7B68AB7}" destId="{6FB56772-A03B-49B9-AAA2-2D052F528C36}" srcOrd="0" destOrd="0" parTransId="{4B7975A5-3D58-4C15-9CD8-96B0CF4B9A9B}" sibTransId="{ECDB286E-1F60-47D4-9F22-BC70BBD55ABC}"/>
    <dgm:cxn modelId="{4B82FA59-0658-482D-B03B-487640FFE2E4}" type="presOf" srcId="{6FB56772-A03B-49B9-AAA2-2D052F528C36}" destId="{F439DA50-2275-428D-A108-08454730AE07}" srcOrd="0" destOrd="0" presId="urn:microsoft.com/office/officeart/2005/8/layout/cycle4"/>
    <dgm:cxn modelId="{61D92096-F8CF-4D01-955E-422211D9B72C}" srcId="{BA0A5892-C278-4763-B5C2-0B8F69F8893A}" destId="{7AE8021D-C6EA-438A-97AA-99FEA45ABDAF}" srcOrd="0" destOrd="0" parTransId="{68C63E4B-D98A-432F-ABBE-4FD88CA41DDB}" sibTransId="{7DFA85D4-57BC-484C-A73D-09F7F2423B72}"/>
    <dgm:cxn modelId="{9DEB823C-59CE-4206-88F5-BA33B9E45F46}" type="presOf" srcId="{7AE8021D-C6EA-438A-97AA-99FEA45ABDAF}" destId="{D298FC0C-6FA8-4F0D-B3D3-3E9429389B0C}" srcOrd="0" destOrd="0" presId="urn:microsoft.com/office/officeart/2005/8/layout/cycle4"/>
    <dgm:cxn modelId="{EDB57AD2-2147-4890-A1EC-35FB7C5824F3}" srcId="{7762A12D-FABE-47D5-9DF6-3791A315F8FA}" destId="{3E6B8791-65E0-417E-9A6B-2B074FAF5AB9}" srcOrd="1" destOrd="0" parTransId="{1C68F18C-9FD6-4FA3-89DA-9A576287BE0A}" sibTransId="{B769C6B9-53CF-48F3-8CCD-7F596E45E7D6}"/>
    <dgm:cxn modelId="{5A2A73C6-95F6-482C-93C8-58D170CD84F3}" srcId="{3403DE86-80A4-4641-AEE6-2E511B798B77}" destId="{7762A12D-FABE-47D5-9DF6-3791A315F8FA}" srcOrd="2" destOrd="0" parTransId="{E36A1D3E-917A-4E7E-900C-F71E74A54634}" sibTransId="{01FD5B91-B8F0-434F-98BD-A0F90FD94E45}"/>
    <dgm:cxn modelId="{1AC24271-0F27-4184-95E8-41DE66EB8675}" type="presOf" srcId="{BA0A5892-C278-4763-B5C2-0B8F69F8893A}" destId="{389300F8-3963-40A2-9E75-73A0267376A2}" srcOrd="0" destOrd="0" presId="urn:microsoft.com/office/officeart/2005/8/layout/cycle4"/>
    <dgm:cxn modelId="{D5F0DA96-D4BE-4BA0-B582-BD21FF82DCF3}" type="presOf" srcId="{3E6B8791-65E0-417E-9A6B-2B074FAF5AB9}" destId="{CC871E26-D5C7-4017-AE22-450340B7125B}" srcOrd="0" destOrd="1" presId="urn:microsoft.com/office/officeart/2005/8/layout/cycle4"/>
    <dgm:cxn modelId="{8FF635DE-E79B-4A7A-9124-AF13DFA1B624}" type="presOf" srcId="{38616940-CF54-4F15-BDF2-8947E7B68AB7}" destId="{B2E2D780-A8DE-4B0E-9316-D9215B044081}" srcOrd="0" destOrd="0" presId="urn:microsoft.com/office/officeart/2005/8/layout/cycle4"/>
    <dgm:cxn modelId="{4703EB39-C273-411B-9870-C67C12959B64}" type="presOf" srcId="{3E6B8791-65E0-417E-9A6B-2B074FAF5AB9}" destId="{5664C5AB-0737-44C3-8BD8-E9C3024AC78D}" srcOrd="1" destOrd="1" presId="urn:microsoft.com/office/officeart/2005/8/layout/cycle4"/>
    <dgm:cxn modelId="{1D1A39EC-9CAF-44CC-A6F0-296946094A64}" type="presOf" srcId="{27512F27-F54F-4B70-A1AC-5D369CC945A8}" destId="{5664C5AB-0737-44C3-8BD8-E9C3024AC78D}" srcOrd="1" destOrd="0" presId="urn:microsoft.com/office/officeart/2005/8/layout/cycle4"/>
    <dgm:cxn modelId="{F0BAEB24-60FA-4A02-A96D-490C079622E9}" type="presOf" srcId="{1AB424BA-F884-4B3B-B759-55BBC4DAD005}" destId="{F439DA50-2275-428D-A108-08454730AE07}" srcOrd="0" destOrd="1" presId="urn:microsoft.com/office/officeart/2005/8/layout/cycle4"/>
    <dgm:cxn modelId="{963E0B54-AEA2-48AA-B56F-B4F4DCBA206B}" srcId="{38616940-CF54-4F15-BDF2-8947E7B68AB7}" destId="{1AB424BA-F884-4B3B-B759-55BBC4DAD005}" srcOrd="1" destOrd="0" parTransId="{55D42654-AD8C-498A-B70D-D0394260E72F}" sibTransId="{AFE86E18-E3D1-4753-B476-AF4C3B5E6CFC}"/>
    <dgm:cxn modelId="{DA96B067-C85D-4593-8D10-16EEC4A06E6E}" type="presOf" srcId="{791DD321-86C6-4DCD-A731-C0BAC9197CFB}" destId="{A8A1885F-F93E-4086-B687-F5BACDE23B8E}" srcOrd="0" destOrd="1" presId="urn:microsoft.com/office/officeart/2005/8/layout/cycle4"/>
    <dgm:cxn modelId="{3953FC84-261A-40B7-AF85-580AAAF50550}" type="presOf" srcId="{7AE8021D-C6EA-438A-97AA-99FEA45ABDAF}" destId="{B50563A0-5E0E-496F-AACB-D8D4E2737CCE}" srcOrd="1" destOrd="0" presId="urn:microsoft.com/office/officeart/2005/8/layout/cycle4"/>
    <dgm:cxn modelId="{7EE2EFCB-3911-4247-A13F-89A6A5BA3857}" type="presOf" srcId="{791DD321-86C6-4DCD-A731-C0BAC9197CFB}" destId="{4489AEE2-D899-425A-92B6-48E1E362A087}" srcOrd="1" destOrd="1" presId="urn:microsoft.com/office/officeart/2005/8/layout/cycle4"/>
    <dgm:cxn modelId="{8F1781D5-6247-40E5-AB42-2FFF01F77805}" srcId="{7762A12D-FABE-47D5-9DF6-3791A315F8FA}" destId="{27512F27-F54F-4B70-A1AC-5D369CC945A8}" srcOrd="0" destOrd="0" parTransId="{0C26CCD6-CE09-4869-809E-BC514DD154BF}" sibTransId="{EAAC23FA-111E-4515-B2C4-73BA2E3A0C9D}"/>
    <dgm:cxn modelId="{093BF441-0D69-4AFE-88E3-31BC2A981F00}" type="presOf" srcId="{3403DE86-80A4-4641-AEE6-2E511B798B77}" destId="{8D230F1B-1389-478A-98E3-D1A01B1F9032}" srcOrd="0" destOrd="0" presId="urn:microsoft.com/office/officeart/2005/8/layout/cycle4"/>
    <dgm:cxn modelId="{656CBFEC-1869-46FE-AD92-8D94ADDC1841}" type="presOf" srcId="{A244DBF0-0400-4B39-B631-25FC39623FFA}" destId="{54E4327E-EDC4-4C66-8214-09CDB24228FB}" srcOrd="0" destOrd="0" presId="urn:microsoft.com/office/officeart/2005/8/layout/cycle4"/>
    <dgm:cxn modelId="{DABDC8C0-C3FC-4179-A35B-2932FFE96E23}" type="presOf" srcId="{1412F6CE-D419-4CE0-A4F7-7C7D9CB9F2E5}" destId="{0D631131-E97E-448B-9542-387BA052252C}" srcOrd="1" destOrd="2" presId="urn:microsoft.com/office/officeart/2005/8/layout/cycle4"/>
    <dgm:cxn modelId="{A15BDF36-AE43-4969-9646-2A49802B6D9D}" type="presOf" srcId="{6FB56772-A03B-49B9-AAA2-2D052F528C36}" destId="{0D631131-E97E-448B-9542-387BA052252C}" srcOrd="1" destOrd="0" presId="urn:microsoft.com/office/officeart/2005/8/layout/cycle4"/>
    <dgm:cxn modelId="{2D23E66C-623F-453D-BD3C-24447196724D}" srcId="{38616940-CF54-4F15-BDF2-8947E7B68AB7}" destId="{1412F6CE-D419-4CE0-A4F7-7C7D9CB9F2E5}" srcOrd="2" destOrd="0" parTransId="{AB23A082-5023-45FA-BB6E-849D3C06A3FD}" sibTransId="{90488632-827C-4313-BFCE-7AAD669980B6}"/>
    <dgm:cxn modelId="{60F83E27-E5F1-4CDB-AF6C-AC56368F0FC6}" type="presOf" srcId="{1412F6CE-D419-4CE0-A4F7-7C7D9CB9F2E5}" destId="{F439DA50-2275-428D-A108-08454730AE07}" srcOrd="0" destOrd="2" presId="urn:microsoft.com/office/officeart/2005/8/layout/cycle4"/>
    <dgm:cxn modelId="{9DD6F625-5FFC-49CB-BDFF-D1320388000C}" type="presOf" srcId="{8E576C11-8570-49DD-AC80-9C82B0F33732}" destId="{A8A1885F-F93E-4086-B687-F5BACDE23B8E}" srcOrd="0" destOrd="0" presId="urn:microsoft.com/office/officeart/2005/8/layout/cycle4"/>
    <dgm:cxn modelId="{A3400E8E-3588-4FE6-8692-B7431C5C3ED2}" srcId="{A244DBF0-0400-4B39-B631-25FC39623FFA}" destId="{8E576C11-8570-49DD-AC80-9C82B0F33732}" srcOrd="0" destOrd="0" parTransId="{C0B34FC1-C99D-4E65-BB91-0A4755E350E8}" sibTransId="{1503B96F-EC0E-4826-BE9B-4ADCEB37A115}"/>
    <dgm:cxn modelId="{4C7096B9-6034-43CA-9D41-A65D181E7F83}" type="presOf" srcId="{27512F27-F54F-4B70-A1AC-5D369CC945A8}" destId="{CC871E26-D5C7-4017-AE22-450340B7125B}" srcOrd="0" destOrd="0" presId="urn:microsoft.com/office/officeart/2005/8/layout/cycle4"/>
    <dgm:cxn modelId="{D2CF3B47-F655-46D5-BC89-450B93005E93}" type="presOf" srcId="{7762A12D-FABE-47D5-9DF6-3791A315F8FA}" destId="{0EBFA63D-D820-4325-8511-AFB3CF1B281B}" srcOrd="0" destOrd="0" presId="urn:microsoft.com/office/officeart/2005/8/layout/cycle4"/>
    <dgm:cxn modelId="{62539E96-CC52-4392-B3A1-60D300430786}" srcId="{3403DE86-80A4-4641-AEE6-2E511B798B77}" destId="{38616940-CF54-4F15-BDF2-8947E7B68AB7}" srcOrd="1" destOrd="0" parTransId="{DDDBF06F-1182-408F-AEAD-F632C213617F}" sibTransId="{3744BC08-CBE7-44E0-B7AA-70A9EAEF5CB7}"/>
    <dgm:cxn modelId="{8CD8BF38-7C6C-4B6E-BD03-6315C3D044A8}" srcId="{3403DE86-80A4-4641-AEE6-2E511B798B77}" destId="{BA0A5892-C278-4763-B5C2-0B8F69F8893A}" srcOrd="3" destOrd="0" parTransId="{D7699BE8-7624-4392-9610-8EACD2D9CFC7}" sibTransId="{625CCE1C-4887-4645-A026-60FD27963048}"/>
    <dgm:cxn modelId="{8A99CFBD-4F49-41B2-AAA7-4D7337318912}" type="presOf" srcId="{8E576C11-8570-49DD-AC80-9C82B0F33732}" destId="{4489AEE2-D899-425A-92B6-48E1E362A087}" srcOrd="1" destOrd="0" presId="urn:microsoft.com/office/officeart/2005/8/layout/cycle4"/>
    <dgm:cxn modelId="{7334FBB6-6044-4636-824C-26E3BF1749D2}" srcId="{A244DBF0-0400-4B39-B631-25FC39623FFA}" destId="{791DD321-86C6-4DCD-A731-C0BAC9197CFB}" srcOrd="1" destOrd="0" parTransId="{98A15541-90A4-40C4-AA8B-937793CAD42B}" sibTransId="{2B93C5F1-CB9E-40EC-AB1F-7278C6EE3C21}"/>
    <dgm:cxn modelId="{018D78E6-5D0F-4821-9ED0-43FF67031AE1}" srcId="{3403DE86-80A4-4641-AEE6-2E511B798B77}" destId="{A244DBF0-0400-4B39-B631-25FC39623FFA}" srcOrd="0" destOrd="0" parTransId="{70D383B3-5A2C-4C0C-B9A7-4760056BB48B}" sibTransId="{43CCF1AB-A0C6-44F0-92C9-BE76DF223B67}"/>
    <dgm:cxn modelId="{CD4E4918-6C20-4A52-A7CE-836925984FBA}" type="presOf" srcId="{1AB424BA-F884-4B3B-B759-55BBC4DAD005}" destId="{0D631131-E97E-448B-9542-387BA052252C}" srcOrd="1" destOrd="1" presId="urn:microsoft.com/office/officeart/2005/8/layout/cycle4"/>
    <dgm:cxn modelId="{D18543FF-F970-4E0D-B05C-C9FE63C28BB9}" type="presParOf" srcId="{8D230F1B-1389-478A-98E3-D1A01B1F9032}" destId="{4C7BB0E3-4E92-42F8-88B5-83C5FBBD2C17}" srcOrd="0" destOrd="0" presId="urn:microsoft.com/office/officeart/2005/8/layout/cycle4"/>
    <dgm:cxn modelId="{C721CC7D-D0B2-4205-B1D4-E03BC8D69346}" type="presParOf" srcId="{4C7BB0E3-4E92-42F8-88B5-83C5FBBD2C17}" destId="{69DA36E7-C075-4ACF-9924-5551F2DC52DC}" srcOrd="0" destOrd="0" presId="urn:microsoft.com/office/officeart/2005/8/layout/cycle4"/>
    <dgm:cxn modelId="{91D2D636-B70A-46A3-B1C1-16FB30F5FEE5}" type="presParOf" srcId="{69DA36E7-C075-4ACF-9924-5551F2DC52DC}" destId="{A8A1885F-F93E-4086-B687-F5BACDE23B8E}" srcOrd="0" destOrd="0" presId="urn:microsoft.com/office/officeart/2005/8/layout/cycle4"/>
    <dgm:cxn modelId="{E1AB87FD-7DB3-41E0-845D-96E76F8C246F}" type="presParOf" srcId="{69DA36E7-C075-4ACF-9924-5551F2DC52DC}" destId="{4489AEE2-D899-425A-92B6-48E1E362A087}" srcOrd="1" destOrd="0" presId="urn:microsoft.com/office/officeart/2005/8/layout/cycle4"/>
    <dgm:cxn modelId="{2B741C5D-0F96-4EFA-8196-434BB3F8527A}" type="presParOf" srcId="{4C7BB0E3-4E92-42F8-88B5-83C5FBBD2C17}" destId="{1218DB71-7840-49C4-BA70-53FBE89D32E3}" srcOrd="1" destOrd="0" presId="urn:microsoft.com/office/officeart/2005/8/layout/cycle4"/>
    <dgm:cxn modelId="{9C8CC7BB-B4DB-4DA3-8C83-3675A9919847}" type="presParOf" srcId="{1218DB71-7840-49C4-BA70-53FBE89D32E3}" destId="{F439DA50-2275-428D-A108-08454730AE07}" srcOrd="0" destOrd="0" presId="urn:microsoft.com/office/officeart/2005/8/layout/cycle4"/>
    <dgm:cxn modelId="{959CAEBF-FD59-4FF4-BF82-CCF88114C09F}" type="presParOf" srcId="{1218DB71-7840-49C4-BA70-53FBE89D32E3}" destId="{0D631131-E97E-448B-9542-387BA052252C}" srcOrd="1" destOrd="0" presId="urn:microsoft.com/office/officeart/2005/8/layout/cycle4"/>
    <dgm:cxn modelId="{5DF16743-36CE-4D75-AF51-BE631855438D}" type="presParOf" srcId="{4C7BB0E3-4E92-42F8-88B5-83C5FBBD2C17}" destId="{B1ECA775-5056-4900-80BA-4ABAE80A4608}" srcOrd="2" destOrd="0" presId="urn:microsoft.com/office/officeart/2005/8/layout/cycle4"/>
    <dgm:cxn modelId="{DFF873C2-1874-492B-8980-B48AD1374F6D}" type="presParOf" srcId="{B1ECA775-5056-4900-80BA-4ABAE80A4608}" destId="{CC871E26-D5C7-4017-AE22-450340B7125B}" srcOrd="0" destOrd="0" presId="urn:microsoft.com/office/officeart/2005/8/layout/cycle4"/>
    <dgm:cxn modelId="{C20C2C2D-D456-4E8F-8F79-EE6D1915DE4D}" type="presParOf" srcId="{B1ECA775-5056-4900-80BA-4ABAE80A4608}" destId="{5664C5AB-0737-44C3-8BD8-E9C3024AC78D}" srcOrd="1" destOrd="0" presId="urn:microsoft.com/office/officeart/2005/8/layout/cycle4"/>
    <dgm:cxn modelId="{92E2E6C9-14F0-4A12-8725-69DAB9BF21A0}" type="presParOf" srcId="{4C7BB0E3-4E92-42F8-88B5-83C5FBBD2C17}" destId="{A918EE2C-CC75-4F43-973F-6BF51AA67462}" srcOrd="3" destOrd="0" presId="urn:microsoft.com/office/officeart/2005/8/layout/cycle4"/>
    <dgm:cxn modelId="{BBAEC364-784C-4139-B5A0-8DADF2763028}" type="presParOf" srcId="{A918EE2C-CC75-4F43-973F-6BF51AA67462}" destId="{D298FC0C-6FA8-4F0D-B3D3-3E9429389B0C}" srcOrd="0" destOrd="0" presId="urn:microsoft.com/office/officeart/2005/8/layout/cycle4"/>
    <dgm:cxn modelId="{69338728-51AA-449F-88D7-4CA03AE8BE4A}" type="presParOf" srcId="{A918EE2C-CC75-4F43-973F-6BF51AA67462}" destId="{B50563A0-5E0E-496F-AACB-D8D4E2737CCE}" srcOrd="1" destOrd="0" presId="urn:microsoft.com/office/officeart/2005/8/layout/cycle4"/>
    <dgm:cxn modelId="{6273ADF4-C003-4B32-B0AA-09014CC38D5B}" type="presParOf" srcId="{4C7BB0E3-4E92-42F8-88B5-83C5FBBD2C17}" destId="{C497A4CB-D0E0-4530-8950-9577234C3BF8}" srcOrd="4" destOrd="0" presId="urn:microsoft.com/office/officeart/2005/8/layout/cycle4"/>
    <dgm:cxn modelId="{866E9066-692E-4765-B7F8-133C26A15368}" type="presParOf" srcId="{8D230F1B-1389-478A-98E3-D1A01B1F9032}" destId="{700B40F4-0C7A-406B-8E6F-22E29950BC00}" srcOrd="1" destOrd="0" presId="urn:microsoft.com/office/officeart/2005/8/layout/cycle4"/>
    <dgm:cxn modelId="{F45C8BC9-E3EE-4682-86C6-52B90E4C8DE2}" type="presParOf" srcId="{700B40F4-0C7A-406B-8E6F-22E29950BC00}" destId="{54E4327E-EDC4-4C66-8214-09CDB24228FB}" srcOrd="0" destOrd="0" presId="urn:microsoft.com/office/officeart/2005/8/layout/cycle4"/>
    <dgm:cxn modelId="{0D5CACF1-8D9F-48E5-96D1-A48426BBF684}" type="presParOf" srcId="{700B40F4-0C7A-406B-8E6F-22E29950BC00}" destId="{B2E2D780-A8DE-4B0E-9316-D9215B044081}" srcOrd="1" destOrd="0" presId="urn:microsoft.com/office/officeart/2005/8/layout/cycle4"/>
    <dgm:cxn modelId="{76611CC7-7160-4634-B230-61DF3829F375}" type="presParOf" srcId="{700B40F4-0C7A-406B-8E6F-22E29950BC00}" destId="{0EBFA63D-D820-4325-8511-AFB3CF1B281B}" srcOrd="2" destOrd="0" presId="urn:microsoft.com/office/officeart/2005/8/layout/cycle4"/>
    <dgm:cxn modelId="{3DC9864B-D5EA-4F7D-A929-1D7BFE638775}" type="presParOf" srcId="{700B40F4-0C7A-406B-8E6F-22E29950BC00}" destId="{389300F8-3963-40A2-9E75-73A0267376A2}" srcOrd="3" destOrd="0" presId="urn:microsoft.com/office/officeart/2005/8/layout/cycle4"/>
    <dgm:cxn modelId="{AD9FBA70-E041-4C9A-8DAE-5AC6183EF3A7}" type="presParOf" srcId="{700B40F4-0C7A-406B-8E6F-22E29950BC00}" destId="{727C11B1-C8B4-45D6-B0C1-6E7F69784AA3}" srcOrd="4" destOrd="0" presId="urn:microsoft.com/office/officeart/2005/8/layout/cycle4"/>
    <dgm:cxn modelId="{544435CC-9974-47C5-AE11-78A91BA6B3E1}" type="presParOf" srcId="{8D230F1B-1389-478A-98E3-D1A01B1F9032}" destId="{D112DB66-846C-40BF-A523-98C3862BB9FA}" srcOrd="2" destOrd="0" presId="urn:microsoft.com/office/officeart/2005/8/layout/cycle4"/>
    <dgm:cxn modelId="{7E7B14C0-92C3-4051-A360-AB01884B56E3}" type="presParOf" srcId="{8D230F1B-1389-478A-98E3-D1A01B1F9032}" destId="{AE5831D3-6CC6-4097-926A-3C2785F9673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71E26-D5C7-4017-AE22-450340B7125B}">
      <dsp:nvSpPr>
        <dsp:cNvPr id="0" name=""/>
        <dsp:cNvSpPr/>
      </dsp:nvSpPr>
      <dsp:spPr>
        <a:xfrm>
          <a:off x="2889768" y="1956642"/>
          <a:ext cx="1424634" cy="9228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成功实现日常</a:t>
          </a:r>
          <a:r>
            <a:rPr lang="zh-CN" altLang="en-US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静态代码检查</a:t>
          </a: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，</a:t>
          </a:r>
          <a:r>
            <a:rPr lang="zh-CN" altLang="en-US" sz="600" b="1" kern="1200" dirty="0" smtClean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每日生成报表</a:t>
          </a:r>
          <a:r>
            <a:rPr lang="zh-CN" altLang="en-US" sz="600" kern="1200" dirty="0" smtClean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，报表中问题得</a:t>
          </a: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到持续更新</a:t>
          </a:r>
          <a:endParaRPr lang="zh-CN" altLang="en-US" sz="6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6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>
        <a:off x="3337431" y="2207625"/>
        <a:ext cx="956700" cy="651586"/>
      </dsp:txXfrm>
    </dsp:sp>
    <dsp:sp modelId="{D298FC0C-6FA8-4F0D-B3D3-3E9429389B0C}">
      <dsp:nvSpPr>
        <dsp:cNvPr id="0" name=""/>
        <dsp:cNvSpPr/>
      </dsp:nvSpPr>
      <dsp:spPr>
        <a:xfrm>
          <a:off x="11423" y="1952241"/>
          <a:ext cx="1424634" cy="9228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实现</a:t>
          </a:r>
          <a:r>
            <a:rPr lang="en-US" altLang="zh-CN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JAVA</a:t>
          </a: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代码自动化回归测试覆盖率（行覆盖率）</a:t>
          </a:r>
          <a:r>
            <a:rPr lang="en-US" altLang="zh-CN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75%</a:t>
          </a:r>
          <a:r>
            <a:rPr lang="zh-CN" altLang="en-US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以上</a:t>
          </a: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；实现页面覆盖率</a:t>
          </a:r>
          <a:r>
            <a:rPr lang="en-US" altLang="zh-CN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90%</a:t>
          </a:r>
          <a:r>
            <a:rPr lang="zh-CN" altLang="en-US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以上</a:t>
          </a:r>
          <a:endParaRPr lang="zh-CN" altLang="en-US" sz="800" kern="1200" dirty="0">
            <a:solidFill>
              <a:srgbClr val="FF0000"/>
            </a:solidFill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>
        <a:off x="31695" y="2203223"/>
        <a:ext cx="956700" cy="651586"/>
      </dsp:txXfrm>
    </dsp:sp>
    <dsp:sp modelId="{F439DA50-2275-428D-A108-08454730AE07}">
      <dsp:nvSpPr>
        <dsp:cNvPr id="0" name=""/>
        <dsp:cNvSpPr/>
      </dsp:nvSpPr>
      <dsp:spPr>
        <a:xfrm>
          <a:off x="2889768" y="13187"/>
          <a:ext cx="1424634" cy="9228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接口稳定</a:t>
          </a: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，不随版本更新而发生重大调整，导致每需求工作量提高</a:t>
          </a:r>
          <a:endParaRPr lang="zh-CN" altLang="en-US" sz="6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前端工程化带来工作量减少，业务需求量不变的情况下，</a:t>
          </a:r>
          <a:r>
            <a:rPr lang="zh-CN" altLang="en-US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代码变更减少</a:t>
          </a:r>
          <a:endParaRPr lang="zh-CN" altLang="en-US" sz="800" b="1" kern="1200" dirty="0">
            <a:solidFill>
              <a:srgbClr val="FF0000"/>
            </a:solidFill>
            <a:latin typeface="微软雅黑 Light" panose="020B0502040204020203" pitchFamily="34" charset="-122"/>
            <a:ea typeface="微软雅黑 Light" panose="020B0502040204020203" pitchFamily="34" charset="-122"/>
          </a:endParaRP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6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>
        <a:off x="3337431" y="33459"/>
        <a:ext cx="956700" cy="651586"/>
      </dsp:txXfrm>
    </dsp:sp>
    <dsp:sp modelId="{A8A1885F-F93E-4086-B687-F5BACDE23B8E}">
      <dsp:nvSpPr>
        <dsp:cNvPr id="0" name=""/>
        <dsp:cNvSpPr/>
      </dsp:nvSpPr>
      <dsp:spPr>
        <a:xfrm>
          <a:off x="11423" y="13187"/>
          <a:ext cx="1424634" cy="9228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实现更加标准化的日志输出，实现通过日志监控获知系统运行情况</a:t>
          </a:r>
          <a:endParaRPr lang="zh-CN" altLang="en-US" sz="6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实现</a:t>
          </a:r>
          <a:r>
            <a:rPr lang="zh-CN" altLang="en-US" sz="800" b="1" kern="1200" dirty="0" smtClean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rPr>
            <a:t>每日推送</a:t>
          </a:r>
          <a:r>
            <a:rPr lang="zh-CN" altLang="en-US" sz="6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系统运行情况报表</a:t>
          </a:r>
          <a:endParaRPr lang="zh-CN" altLang="en-US" sz="6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>
        <a:off x="31695" y="33459"/>
        <a:ext cx="956700" cy="651586"/>
      </dsp:txXfrm>
    </dsp:sp>
    <dsp:sp modelId="{54E4327E-EDC4-4C66-8214-09CDB24228FB}">
      <dsp:nvSpPr>
        <dsp:cNvPr id="0" name=""/>
        <dsp:cNvSpPr/>
      </dsp:nvSpPr>
      <dsp:spPr>
        <a:xfrm>
          <a:off x="885349" y="164380"/>
          <a:ext cx="1248718" cy="1248718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日志和监控报表</a:t>
          </a:r>
          <a:endParaRPr lang="zh-CN" altLang="en-US" sz="11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>
        <a:off x="1251090" y="530121"/>
        <a:ext cx="882977" cy="882977"/>
      </dsp:txXfrm>
    </dsp:sp>
    <dsp:sp modelId="{B2E2D780-A8DE-4B0E-9316-D9215B044081}">
      <dsp:nvSpPr>
        <dsp:cNvPr id="0" name=""/>
        <dsp:cNvSpPr/>
      </dsp:nvSpPr>
      <dsp:spPr>
        <a:xfrm rot="5400000">
          <a:off x="2191745" y="164380"/>
          <a:ext cx="1248718" cy="1248718"/>
        </a:xfrm>
        <a:prstGeom prst="pieWedg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开发效率提升</a:t>
          </a:r>
          <a:endParaRPr lang="zh-CN" altLang="en-US" sz="11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 rot="-5400000">
        <a:off x="2191745" y="530121"/>
        <a:ext cx="882977" cy="882977"/>
      </dsp:txXfrm>
    </dsp:sp>
    <dsp:sp modelId="{0EBFA63D-D820-4325-8511-AFB3CF1B281B}">
      <dsp:nvSpPr>
        <dsp:cNvPr id="0" name=""/>
        <dsp:cNvSpPr/>
      </dsp:nvSpPr>
      <dsp:spPr>
        <a:xfrm rot="10800000">
          <a:off x="2191745" y="1470776"/>
          <a:ext cx="1248718" cy="1248718"/>
        </a:xfrm>
        <a:prstGeom prst="pieWedg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代码质量和可维护性提升</a:t>
          </a:r>
          <a:endParaRPr lang="zh-CN" altLang="en-US" sz="11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 rot="10800000">
        <a:off x="2191745" y="1470776"/>
        <a:ext cx="882977" cy="882977"/>
      </dsp:txXfrm>
    </dsp:sp>
    <dsp:sp modelId="{389300F8-3963-40A2-9E75-73A0267376A2}">
      <dsp:nvSpPr>
        <dsp:cNvPr id="0" name=""/>
        <dsp:cNvSpPr/>
      </dsp:nvSpPr>
      <dsp:spPr>
        <a:xfrm rot="16200000">
          <a:off x="885349" y="1470776"/>
          <a:ext cx="1248718" cy="1248718"/>
        </a:xfrm>
        <a:prstGeom prst="pieWedg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 Light" panose="020B0502040204020203" pitchFamily="34" charset="-122"/>
              <a:ea typeface="微软雅黑 Light" panose="020B0502040204020203" pitchFamily="34" charset="-122"/>
            </a:rPr>
            <a:t>测试效率提升、测试覆盖率提高</a:t>
          </a:r>
          <a:endParaRPr lang="zh-CN" altLang="en-US" sz="1100" kern="1200" dirty="0">
            <a:latin typeface="微软雅黑 Light" panose="020B0502040204020203" pitchFamily="34" charset="-122"/>
            <a:ea typeface="微软雅黑 Light" panose="020B0502040204020203" pitchFamily="34" charset="-122"/>
          </a:endParaRPr>
        </a:p>
      </dsp:txBody>
      <dsp:txXfrm rot="5400000">
        <a:off x="1251090" y="1470776"/>
        <a:ext cx="882977" cy="882977"/>
      </dsp:txXfrm>
    </dsp:sp>
    <dsp:sp modelId="{D112DB66-846C-40BF-A523-98C3862BB9FA}">
      <dsp:nvSpPr>
        <dsp:cNvPr id="0" name=""/>
        <dsp:cNvSpPr/>
      </dsp:nvSpPr>
      <dsp:spPr>
        <a:xfrm>
          <a:off x="1947336" y="1182389"/>
          <a:ext cx="431139" cy="374903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831D3-6CC6-4097-926A-3C2785F9673F}">
      <dsp:nvSpPr>
        <dsp:cNvPr id="0" name=""/>
        <dsp:cNvSpPr/>
      </dsp:nvSpPr>
      <dsp:spPr>
        <a:xfrm rot="10800000">
          <a:off x="1947336" y="1326582"/>
          <a:ext cx="431139" cy="374903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3315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5" y="1"/>
            <a:ext cx="2918830" cy="493315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>
              <a:defRPr sz="1200"/>
            </a:lvl1pPr>
          </a:lstStyle>
          <a:p>
            <a:fld id="{A758B07A-97E7-41CA-AAB0-03737EDD6502}" type="datetimeFigureOut">
              <a:rPr lang="zh-CN" altLang="en-US" smtClean="0"/>
              <a:t>2019/3/6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371286"/>
            <a:ext cx="2918830" cy="493315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5" y="9371286"/>
            <a:ext cx="2918830" cy="493315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>
              <a:defRPr sz="1200"/>
            </a:lvl1pPr>
          </a:lstStyle>
          <a:p>
            <a:fld id="{2940B305-E91F-4A5F-AB15-2DE7C3008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0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>
              <a:defRPr sz="1200"/>
            </a:lvl1pPr>
          </a:lstStyle>
          <a:p>
            <a:fld id="{C5186EDD-B550-4C44-90B0-06A8CB55160A}" type="datetimeFigureOut">
              <a:rPr lang="zh-CN" altLang="en-US" smtClean="0"/>
              <a:t>2019/3/6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4" tIns="45377" rIns="90754" bIns="4537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54" tIns="45377" rIns="90754" bIns="45377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0" cy="495028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375" y="9371285"/>
            <a:ext cx="2918830" cy="495028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>
              <a:defRPr sz="1200"/>
            </a:lvl1pPr>
          </a:lstStyle>
          <a:p>
            <a:fld id="{C59F059C-BC53-4DE8-8404-7AF0A9D6B9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73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F059C-BC53-4DE8-8404-7AF0A9D6B9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99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F059C-BC53-4DE8-8404-7AF0A9D6B9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240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F059C-BC53-4DE8-8404-7AF0A9D6B91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793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437092"/>
            <a:ext cx="9144000" cy="358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5048904"/>
            <a:ext cx="9144000" cy="1064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51563" y="140954"/>
            <a:ext cx="210087" cy="210087"/>
            <a:chOff x="624979" y="908720"/>
            <a:chExt cx="288032" cy="288032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24979" y="1196752"/>
              <a:ext cx="28803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911622" y="908720"/>
              <a:ext cx="0" cy="28803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 flipV="1">
              <a:off x="696987" y="980728"/>
              <a:ext cx="216024" cy="216024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9773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5048904"/>
            <a:ext cx="9144000" cy="1064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437092"/>
            <a:ext cx="9144000" cy="358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551563" y="140954"/>
            <a:ext cx="210087" cy="210087"/>
            <a:chOff x="624979" y="908720"/>
            <a:chExt cx="288032" cy="288032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624979" y="1196752"/>
              <a:ext cx="28803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911622" y="908720"/>
              <a:ext cx="0" cy="28803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 flipV="1">
              <a:off x="696987" y="980728"/>
              <a:ext cx="216024" cy="216024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4792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775290" y="113800"/>
            <a:ext cx="2209874" cy="679301"/>
          </a:xfrm>
        </p:spPr>
        <p:txBody>
          <a:bodyPr>
            <a:normAutofit/>
          </a:bodyPr>
          <a:lstStyle>
            <a:lvl1pPr algn="ctr">
              <a:defRPr sz="27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请输入目录名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41FBD-96A5-4777-8FEC-14FE9F4EC1C2}" type="datetimeFigureOut">
              <a:rPr lang="zh-CN" altLang="en-US" smtClean="0"/>
              <a:t>2019/3/6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A76A-CDE0-47DD-AB0A-30B7C5E26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774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54E67-AAC5-4965-872D-B9BB57458D71}" type="datetimeFigureOut">
              <a:rPr lang="zh-CN" altLang="en-US" smtClean="0"/>
              <a:t>2019/3/6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2A490-EFAF-462F-A5BA-47C915C9E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57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54E67-AAC5-4965-872D-B9BB57458D71}" type="datetimeFigureOut">
              <a:rPr lang="zh-CN" altLang="en-US" smtClean="0"/>
              <a:t>2019/3/6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2A490-EFAF-462F-A5BA-47C915C9E03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00" y="19835"/>
            <a:ext cx="1567055" cy="42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4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6" r:id="rId2"/>
    <p:sldLayoutId id="2147483674" r:id="rId3"/>
    <p:sldLayoutId id="2147483677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843700" y="4005997"/>
            <a:ext cx="3281623" cy="10387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buNone/>
              <a:defRPr sz="2800" b="1">
                <a:solidFill>
                  <a:srgbClr val="080C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1800" dirty="0" smtClean="0"/>
              <a:t>2019</a:t>
            </a:r>
            <a:r>
              <a:rPr lang="zh-CN" altLang="en-US" sz="1800" dirty="0" smtClean="0"/>
              <a:t>年</a:t>
            </a:r>
            <a:r>
              <a:rPr lang="en-US" altLang="zh-CN" sz="1800" dirty="0" smtClean="0"/>
              <a:t>2</a:t>
            </a:r>
            <a:r>
              <a:rPr lang="zh-CN" altLang="en-US" sz="1800" dirty="0" smtClean="0"/>
              <a:t>月</a:t>
            </a:r>
            <a:endParaRPr lang="zh-CN" altLang="en-US" sz="18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22"/>
          <a:stretch/>
        </p:blipFill>
        <p:spPr>
          <a:xfrm>
            <a:off x="0" y="-203"/>
            <a:ext cx="9144000" cy="402550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2962275"/>
            <a:ext cx="9144000" cy="107275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题 4"/>
          <p:cNvSpPr txBox="1">
            <a:spLocks/>
          </p:cNvSpPr>
          <p:nvPr/>
        </p:nvSpPr>
        <p:spPr>
          <a:xfrm>
            <a:off x="1246822" y="3294787"/>
            <a:ext cx="6988509" cy="502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商微信服务号优化项目立项报告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14493" y="3393148"/>
            <a:ext cx="641856" cy="525064"/>
            <a:chOff x="301119" y="142878"/>
            <a:chExt cx="836237" cy="1427275"/>
          </a:xfrm>
        </p:grpSpPr>
        <p:sp>
          <p:nvSpPr>
            <p:cNvPr id="6" name="平行四边形 5"/>
            <p:cNvSpPr/>
            <p:nvPr/>
          </p:nvSpPr>
          <p:spPr>
            <a:xfrm>
              <a:off x="424375" y="942485"/>
              <a:ext cx="686426" cy="627668"/>
            </a:xfrm>
            <a:prstGeom prst="parallelogram">
              <a:avLst>
                <a:gd name="adj" fmla="val 46277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301119" y="599585"/>
              <a:ext cx="686426" cy="627668"/>
            </a:xfrm>
            <a:prstGeom prst="parallelogram">
              <a:avLst>
                <a:gd name="adj" fmla="val 4627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79811" y="142878"/>
              <a:ext cx="257545" cy="235499"/>
            </a:xfrm>
            <a:prstGeom prst="parallelogram">
              <a:avLst>
                <a:gd name="adj" fmla="val 4627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77587" y="185249"/>
              <a:ext cx="180000" cy="180000"/>
            </a:xfrm>
            <a:prstGeom prst="parallelogram">
              <a:avLst>
                <a:gd name="adj" fmla="val 4627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0" name="直接连接符 9"/>
          <p:cNvCxnSpPr>
            <a:stCxn id="6" idx="2"/>
          </p:cNvCxnSpPr>
          <p:nvPr/>
        </p:nvCxnSpPr>
        <p:spPr>
          <a:xfrm>
            <a:off x="1464730" y="3802759"/>
            <a:ext cx="673311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577" y="4554554"/>
            <a:ext cx="1567055" cy="42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9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7288955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电商系统平台已经运行将近一年，需要进一步优化现有平台以更好的支持电商业务发展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9393"/>
            <a:ext cx="9144000" cy="25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4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弧形 60"/>
          <p:cNvSpPr/>
          <p:nvPr/>
        </p:nvSpPr>
        <p:spPr>
          <a:xfrm rot="13652902">
            <a:off x="4292238" y="1601162"/>
            <a:ext cx="2157346" cy="2157346"/>
          </a:xfrm>
          <a:prstGeom prst="arc">
            <a:avLst>
              <a:gd name="adj1" fmla="val 10785529"/>
              <a:gd name="adj2" fmla="val 0"/>
            </a:avLst>
          </a:prstGeom>
          <a:solidFill>
            <a:srgbClr val="EBD4CB"/>
          </a:solidFill>
          <a:ln w="28575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弧形 44"/>
          <p:cNvSpPr/>
          <p:nvPr/>
        </p:nvSpPr>
        <p:spPr>
          <a:xfrm rot="2857433">
            <a:off x="4317199" y="1585542"/>
            <a:ext cx="2150232" cy="2150232"/>
          </a:xfrm>
          <a:prstGeom prst="arc">
            <a:avLst>
              <a:gd name="adj1" fmla="val 10768178"/>
              <a:gd name="adj2" fmla="val 0"/>
            </a:avLst>
          </a:prstGeom>
          <a:solidFill>
            <a:srgbClr val="DA9F9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对现有电商平台进行分析和调研，针对</a:t>
            </a:r>
            <a:r>
              <a:rPr lang="en-US" altLang="zh-CN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年电商直销业绩目标，提出痛点和解决方案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弧形 19"/>
          <p:cNvSpPr/>
          <p:nvPr/>
        </p:nvSpPr>
        <p:spPr>
          <a:xfrm rot="2857433">
            <a:off x="4993834" y="2219514"/>
            <a:ext cx="851548" cy="851548"/>
          </a:xfrm>
          <a:prstGeom prst="arc">
            <a:avLst>
              <a:gd name="adj1" fmla="val 10768178"/>
              <a:gd name="adj2" fmla="val 0"/>
            </a:avLst>
          </a:prstGeom>
          <a:solidFill>
            <a:srgbClr val="B6465F"/>
          </a:solidFill>
          <a:ln w="28575"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30" idx="2"/>
          </p:cNvCxnSpPr>
          <p:nvPr/>
        </p:nvCxnSpPr>
        <p:spPr>
          <a:xfrm flipH="1">
            <a:off x="5557140" y="1158958"/>
            <a:ext cx="594261" cy="1059355"/>
          </a:xfrm>
          <a:prstGeom prst="straightConnector1">
            <a:avLst/>
          </a:prstGeom>
          <a:solidFill>
            <a:schemeClr val="bg1"/>
          </a:solidFill>
          <a:ln>
            <a:solidFill>
              <a:srgbClr val="FE5F55"/>
            </a:solidFill>
            <a:tailEnd type="oval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0" name="文本框 29"/>
          <p:cNvSpPr txBox="1"/>
          <p:nvPr/>
        </p:nvSpPr>
        <p:spPr>
          <a:xfrm>
            <a:off x="5405042" y="905042"/>
            <a:ext cx="1492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年成交客户</a:t>
            </a: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</a:p>
        </p:txBody>
      </p:sp>
      <p:cxnSp>
        <p:nvCxnSpPr>
          <p:cNvPr id="35" name="直接箭头连接符 27"/>
          <p:cNvCxnSpPr>
            <a:stCxn id="36" idx="1"/>
          </p:cNvCxnSpPr>
          <p:nvPr/>
        </p:nvCxnSpPr>
        <p:spPr>
          <a:xfrm flipH="1">
            <a:off x="6021114" y="1589080"/>
            <a:ext cx="964328" cy="629233"/>
          </a:xfrm>
          <a:prstGeom prst="straightConnector1">
            <a:avLst/>
          </a:prstGeom>
          <a:solidFill>
            <a:schemeClr val="bg1"/>
          </a:solidFill>
          <a:ln>
            <a:solidFill>
              <a:srgbClr val="FF0000"/>
            </a:solidFill>
            <a:tailEnd type="oval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6" name="文本框 35"/>
          <p:cNvSpPr txBox="1"/>
          <p:nvPr/>
        </p:nvSpPr>
        <p:spPr>
          <a:xfrm>
            <a:off x="6985442" y="1381331"/>
            <a:ext cx="20744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年已注册客户中超过</a:t>
            </a: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为高净值客户</a:t>
            </a:r>
          </a:p>
        </p:txBody>
      </p:sp>
      <p:sp>
        <p:nvSpPr>
          <p:cNvPr id="47" name="弧形 46"/>
          <p:cNvSpPr/>
          <p:nvPr/>
        </p:nvSpPr>
        <p:spPr>
          <a:xfrm rot="2857433">
            <a:off x="5025645" y="2239367"/>
            <a:ext cx="809990" cy="809990"/>
          </a:xfrm>
          <a:prstGeom prst="arc">
            <a:avLst>
              <a:gd name="adj1" fmla="val 15968512"/>
              <a:gd name="adj2" fmla="val 0"/>
            </a:avLst>
          </a:prstGeom>
          <a:solidFill>
            <a:srgbClr val="89062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27"/>
          <p:cNvCxnSpPr/>
          <p:nvPr/>
        </p:nvCxnSpPr>
        <p:spPr>
          <a:xfrm flipH="1">
            <a:off x="5711651" y="2640704"/>
            <a:ext cx="1320137" cy="0"/>
          </a:xfrm>
          <a:prstGeom prst="straightConnector1">
            <a:avLst/>
          </a:prstGeom>
          <a:solidFill>
            <a:schemeClr val="bg1"/>
          </a:solidFill>
          <a:ln>
            <a:solidFill>
              <a:srgbClr val="FE5F55"/>
            </a:solidFill>
            <a:tailEnd type="oval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4" name="文本框 33"/>
          <p:cNvSpPr txBox="1"/>
          <p:nvPr/>
        </p:nvSpPr>
        <p:spPr>
          <a:xfrm>
            <a:off x="6985442" y="2477790"/>
            <a:ext cx="20217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年成交客户中</a:t>
            </a:r>
            <a:endParaRPr lang="en-US" altLang="zh-CN" sz="105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年前注册的老客户</a:t>
            </a:r>
          </a:p>
        </p:txBody>
      </p:sp>
      <p:cxnSp>
        <p:nvCxnSpPr>
          <p:cNvPr id="53" name="直接箭头连接符 27"/>
          <p:cNvCxnSpPr/>
          <p:nvPr/>
        </p:nvCxnSpPr>
        <p:spPr>
          <a:xfrm flipV="1">
            <a:off x="5091568" y="2981595"/>
            <a:ext cx="0" cy="1109420"/>
          </a:xfrm>
          <a:prstGeom prst="straightConnector1">
            <a:avLst/>
          </a:prstGeom>
          <a:solidFill>
            <a:schemeClr val="bg1"/>
          </a:solidFill>
          <a:ln>
            <a:solidFill>
              <a:srgbClr val="FF0000"/>
            </a:solidFill>
            <a:tailEnd type="oval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55" name="文本框 54"/>
          <p:cNvSpPr txBox="1"/>
          <p:nvPr/>
        </p:nvSpPr>
        <p:spPr>
          <a:xfrm>
            <a:off x="4940528" y="4161917"/>
            <a:ext cx="24641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年注册用户数量还将增加</a:t>
            </a: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人均获客成本</a:t>
            </a: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105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维持现有规模并实现新增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269962" y="1001557"/>
            <a:ext cx="3892062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年电商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成交客户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来自于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年前的注册客户，这说明存量客户激活及转化有很大价值；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存量客户中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高净值客户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较多，还有很大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挖掘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客户不断获取，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年用户数量还将增加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获客成本较高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，获客同时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重点关注转化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年有新增业务考核，那就必须要能够维持现有业务规模，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提高客户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复购率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（现有复购率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46%-&gt;80%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？），留住存量客户的投资资金在公司产品里面。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综合以上，我们需要优化我们的</a:t>
            </a:r>
            <a:r>
              <a:rPr lang="zh-CN" altLang="en-US" sz="11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客户体验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，对现有电商平台进行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改版优化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8" name="下箭头 67"/>
          <p:cNvSpPr/>
          <p:nvPr/>
        </p:nvSpPr>
        <p:spPr>
          <a:xfrm>
            <a:off x="1378031" y="3113914"/>
            <a:ext cx="462455" cy="4223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4327446" y="928084"/>
            <a:ext cx="880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复购率</a:t>
            </a:r>
            <a:r>
              <a:rPr lang="en-US" altLang="zh-CN" sz="105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46%</a:t>
            </a:r>
            <a:endParaRPr lang="zh-CN" altLang="en-US" sz="105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/>
          <p:cNvCxnSpPr>
            <a:stCxn id="69" idx="2"/>
          </p:cNvCxnSpPr>
          <p:nvPr/>
        </p:nvCxnSpPr>
        <p:spPr>
          <a:xfrm>
            <a:off x="4767631" y="1182000"/>
            <a:ext cx="519073" cy="1036313"/>
          </a:xfrm>
          <a:prstGeom prst="straightConnector1">
            <a:avLst/>
          </a:prstGeom>
          <a:solidFill>
            <a:schemeClr val="bg1"/>
          </a:solidFill>
          <a:ln>
            <a:solidFill>
              <a:srgbClr val="FE5F55"/>
            </a:solidFill>
            <a:tailEnd type="oval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45393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已有电商平台用户体验较差，用户难以有愉悦的操作体验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35" y="757516"/>
            <a:ext cx="1939053" cy="402892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31023" y="757516"/>
            <a:ext cx="54135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客户自行下单转化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及复购的比例是 </a:t>
            </a:r>
            <a:r>
              <a:rPr lang="en-US" altLang="zh-CN" sz="1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1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（有个例外是一个陆金所客户主动找到我们）；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理财顾问总结了几大类包括“打款提示”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话术应对客户对于电商平台操作过程中所产生的疑问，这说明我们的电商平台操作并不顺畅，电商平台未能</a:t>
            </a:r>
            <a:r>
              <a:rPr lang="zh-CN" altLang="en-US" sz="1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客户对我们的</a:t>
            </a:r>
            <a:r>
              <a:rPr lang="zh-CN" altLang="en-US" sz="1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信任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即将上线的更加严格的</a:t>
            </a:r>
            <a:r>
              <a:rPr lang="zh-CN" altLang="en-US" sz="1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合格投资者认定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，进一步降低了电商平台整体的体验，更需要专业的优化来消除影响；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弥补客户操作我们微信服务号而不是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所带来的</a:t>
            </a:r>
            <a:r>
              <a:rPr lang="zh-CN" altLang="en-US" sz="1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体验差距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1569855" y="2298138"/>
            <a:ext cx="1861168" cy="1043873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431024" y="3233227"/>
            <a:ext cx="3345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真实例子：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用户不知道这个页面上这个“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300,000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”是可以修改的，当客户需要投资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&gt;30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万时，给客户操作带来困惑</a:t>
            </a:r>
          </a:p>
        </p:txBody>
      </p:sp>
    </p:spTree>
    <p:extLst>
      <p:ext uri="{BB962C8B-B14F-4D97-AF65-F5344CB8AC3E}">
        <p14:creationId xmlns:p14="http://schemas.microsoft.com/office/powerpoint/2010/main" val="337179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系统相应配合电商平台的优化也需要同步进行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图表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9113904"/>
              </p:ext>
            </p:extLst>
          </p:nvPr>
        </p:nvGraphicFramePr>
        <p:xfrm>
          <a:off x="133604" y="9120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矩形 3"/>
          <p:cNvSpPr/>
          <p:nvPr/>
        </p:nvSpPr>
        <p:spPr>
          <a:xfrm>
            <a:off x="4988901" y="714075"/>
            <a:ext cx="38737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平均一个月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；最多的时候一个月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生产变更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092" y="1139669"/>
            <a:ext cx="3207475" cy="136179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 rot="21000000">
            <a:off x="7059979" y="289034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提升效率！</a:t>
            </a:r>
            <a:endParaRPr lang="en-US" altLang="zh-CN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59979" y="348225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确保质量！</a:t>
            </a:r>
            <a:endParaRPr lang="en-US" altLang="zh-CN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 rot="600000">
            <a:off x="7059979" y="407417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持续交付！</a:t>
            </a:r>
            <a:endParaRPr lang="en-US" altLang="zh-CN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948" y="3044808"/>
            <a:ext cx="1748031" cy="118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3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9" y="813809"/>
            <a:ext cx="7216127" cy="3836835"/>
          </a:xfrm>
          <a:prstGeom prst="rect">
            <a:avLst/>
          </a:prstGeom>
        </p:spPr>
      </p:pic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对现有电商平台进行分析和调研，提出解决方案，并立项完成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6416985" y="2306230"/>
            <a:ext cx="0" cy="606903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accent1"/>
            </a:solidFill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6416985" y="3243559"/>
            <a:ext cx="0" cy="543514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accent1"/>
            </a:solidFill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11" name="文本框 10"/>
          <p:cNvSpPr txBox="1"/>
          <p:nvPr/>
        </p:nvSpPr>
        <p:spPr>
          <a:xfrm>
            <a:off x="6201689" y="2955235"/>
            <a:ext cx="697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立项完成</a:t>
            </a:r>
          </a:p>
        </p:txBody>
      </p:sp>
    </p:spTree>
    <p:extLst>
      <p:ext uri="{BB962C8B-B14F-4D97-AF65-F5344CB8AC3E}">
        <p14:creationId xmlns:p14="http://schemas.microsoft.com/office/powerpoint/2010/main" val="256331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MVP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原则设定项目范围，在成本可控的情况下，优先解决最急需的问题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20" y="852725"/>
            <a:ext cx="6780852" cy="365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7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MVP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确定的范围，引入专业</a:t>
            </a:r>
            <a:r>
              <a:rPr lang="en-US" altLang="zh-CN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UED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厂商，协助我们提升客户体验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702391"/>
              </p:ext>
            </p:extLst>
          </p:nvPr>
        </p:nvGraphicFramePr>
        <p:xfrm>
          <a:off x="638069" y="749297"/>
          <a:ext cx="7754150" cy="37977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5303"/>
                <a:gridCol w="1675350"/>
                <a:gridCol w="492946"/>
                <a:gridCol w="2159957"/>
                <a:gridCol w="1970594"/>
              </a:tblGrid>
              <a:tr h="21616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厂商名称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B5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方案及工作范围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（本次项目范围统一为微信服务号优化，不包含</a:t>
                      </a: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PC</a:t>
                      </a: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官网）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B5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工期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B5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评价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B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148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优势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B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劣势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B5D"/>
                    </a:solidFill>
                  </a:tcPr>
                </a:tc>
              </a:tr>
              <a:tr h="720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深圳荷勒多媒体设计有限公司（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HOLY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）</a:t>
                      </a:r>
                      <a:endParaRPr lang="en-US" altLang="zh-CN" sz="800" dirty="0" smtClean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5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2011</a:t>
                      </a:r>
                      <a:r>
                        <a:rPr lang="zh-CN" altLang="en-US" sz="5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年成立，注册资本金</a:t>
                      </a:r>
                      <a:r>
                        <a:rPr lang="en-US" altLang="zh-CN" sz="5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100</a:t>
                      </a:r>
                      <a:r>
                        <a:rPr lang="zh-CN" altLang="en-US" sz="5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  <a:endParaRPr lang="zh-CN" sz="800" dirty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大数据用户行为调研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竞品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研究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桌面研究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电话访谈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策略研究</a:t>
                      </a:r>
                      <a:endParaRPr lang="en-US" altLang="zh-CN" sz="800" dirty="0" smtClean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交互设计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alt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创意设计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alt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设计规范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alt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正版图片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、</a:t>
                      </a:r>
                      <a:r>
                        <a:rPr lang="zh-CN" alt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免费字体库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zh-CN" sz="800" dirty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alt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63</a:t>
                      </a:r>
                      <a:r>
                        <a:rPr lang="zh-CN" altLang="en-US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天</a:t>
                      </a:r>
                      <a:endParaRPr lang="zh-CN" sz="800" dirty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平安科技供应商；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案例丰富；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提供用户研究等工作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，承担了一部分产品经理工作，解决我们产品经理资源紧张的问题；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深圳本地厂家，沟通和资源调配较为方便。</a:t>
                      </a:r>
                    </a:p>
                  </a:txBody>
                  <a:tcPr marL="38998" marR="38998" marT="9144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对我方项目重视程度不够，目前均是</a:t>
                      </a:r>
                      <a:r>
                        <a:rPr lang="en-US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位项目经理级别在沟通，且发送的方案及报价问题较多，报价合计不清晰甚至错误；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所提供的方案较为粗糙；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费用偏高。</a:t>
                      </a:r>
                    </a:p>
                  </a:txBody>
                  <a:tcPr marL="38998" marR="38998" marT="9144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83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深圳市傲物科技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有限公司</a:t>
                      </a:r>
                      <a:endParaRPr lang="en-US" altLang="zh-CN" sz="800" dirty="0" smtClean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2007</a:t>
                      </a:r>
                      <a:r>
                        <a:rPr lang="zh-CN" altLang="en-US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年成立，注册资本金</a:t>
                      </a:r>
                      <a:r>
                        <a:rPr lang="en-US" altLang="zh-CN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500</a:t>
                      </a:r>
                      <a:r>
                        <a:rPr lang="zh-CN" altLang="en-US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  <a:endParaRPr lang="zh-CN" sz="800" dirty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需求整理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交互设计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视觉设计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开发对接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35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天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平安银行供应</a:t>
                      </a:r>
                      <a:r>
                        <a:rPr lang="zh-CN" sz="800" kern="12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商；</a:t>
                      </a:r>
                      <a:endParaRPr lang="zh-CN" sz="800" kern="1200" dirty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深圳本地厂家，沟通和资源调配较为方便；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对项目较为重视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，来我司</a:t>
                      </a:r>
                      <a:r>
                        <a:rPr lang="en-US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人进行沟通，包括项目经理和商务人员；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费用较低（其提供服务范围较小）。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zh-CN" sz="800" kern="1200" dirty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38998" marR="38998" marT="9144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其客户主要为平安银行；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所能提供的服务能力有限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，集中在交互设计和视觉设计上，以视觉设计为主；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所提供的方案较为粗糙。</a:t>
                      </a:r>
                    </a:p>
                  </a:txBody>
                  <a:tcPr marL="38998" marR="38998" marT="9144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89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飘飘人数字科技北京有限公司（</a:t>
                      </a: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PEOPEO</a:t>
                      </a:r>
                      <a:r>
                        <a:rPr lang="zh-CN" sz="80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）</a:t>
                      </a:r>
                      <a:endParaRPr lang="en-US" altLang="zh-CN" sz="800" dirty="0" smtClean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2007</a:t>
                      </a:r>
                      <a:r>
                        <a:rPr lang="zh-CN" altLang="en-US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年成立，注册资本金</a:t>
                      </a:r>
                      <a:r>
                        <a:rPr lang="en-US" altLang="zh-CN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1000</a:t>
                      </a:r>
                      <a:r>
                        <a:rPr lang="zh-CN" altLang="en-US" sz="600" b="0" dirty="0" smtClean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  <a:endParaRPr lang="en-US" altLang="zh-CN" sz="600" b="0" dirty="0" smtClean="0">
                        <a:solidFill>
                          <a:sysClr val="windowText" lastClr="000000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项目研究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市场研究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产品分析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竞品调研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用户画像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原型设计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产品策划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视觉设计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架构原型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800" b="1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复盘测试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设计走查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项目复盘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真实场景测试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  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输出迭代方案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56</a:t>
                      </a:r>
                      <a:r>
                        <a:rPr lang="zh-CN" sz="8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天</a:t>
                      </a:r>
                    </a:p>
                  </a:txBody>
                  <a:tcPr marL="38998" marR="38998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多家金融客户供应商；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案例丰富；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提供用户研究等工作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，承担了一部分产品经理工作，解决我们产品经理资源紧张的问题；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所提供的方案较为专业；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对项目非常重视</a:t>
                      </a: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，总经理等参与项目沟通。</a:t>
                      </a:r>
                    </a:p>
                  </a:txBody>
                  <a:tcPr marL="38998" marR="38998" marT="9144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公司地点在北京，存在远程交付及沟通问题；</a:t>
                      </a:r>
                    </a:p>
                    <a:p>
                      <a:pPr marL="0" lvl="0" indent="9144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800" kern="1200" dirty="0">
                          <a:solidFill>
                            <a:sysClr val="windowText" lastClr="000000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费用偏高。</a:t>
                      </a:r>
                    </a:p>
                  </a:txBody>
                  <a:tcPr marL="38998" marR="38998" marT="9144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06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前端优化确定后，解决了用户体验的问题，但是后端</a:t>
            </a:r>
            <a:r>
              <a:rPr lang="en-US" altLang="zh-CN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系统面临问题较多，同步需要优化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1" y="830981"/>
            <a:ext cx="8797391" cy="382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6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因为是优化项目，不是新功能或者新业务，我们从系统角度检视优化的成果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4216221897"/>
              </p:ext>
            </p:extLst>
          </p:nvPr>
        </p:nvGraphicFramePr>
        <p:xfrm>
          <a:off x="2240573" y="1288074"/>
          <a:ext cx="4325813" cy="2883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圆角矩形 4"/>
          <p:cNvSpPr/>
          <p:nvPr/>
        </p:nvSpPr>
        <p:spPr>
          <a:xfrm>
            <a:off x="4026877" y="2576146"/>
            <a:ext cx="747346" cy="30773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MVP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521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信服务号优化项目分</a:t>
            </a:r>
            <a:r>
              <a:rPr lang="zh-CN" altLang="en-US" sz="1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阶段投入，不断迭代，并不断对效果进行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检视</a:t>
            </a:r>
            <a:endParaRPr lang="zh-CN" altLang="en-US" sz="12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4424904" y="1140976"/>
            <a:ext cx="0" cy="315589"/>
          </a:xfrm>
          <a:prstGeom prst="straightConnector1">
            <a:avLst/>
          </a:prstGeom>
          <a:solidFill>
            <a:schemeClr val="bg1"/>
          </a:solidFill>
          <a:ln w="38100">
            <a:solidFill>
              <a:srgbClr val="D62828"/>
            </a:solidFill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6" name="文本框 5"/>
          <p:cNvSpPr txBox="1"/>
          <p:nvPr/>
        </p:nvSpPr>
        <p:spPr>
          <a:xfrm>
            <a:off x="3755489" y="894857"/>
            <a:ext cx="13388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第一个优化版本上线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8642"/>
            <a:ext cx="9144000" cy="28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5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项目分阶段投入，不断迭代，并不断对效果进行检视</a:t>
            </a:r>
            <a:endParaRPr lang="zh-CN" altLang="en-US" sz="12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985009"/>
              </p:ext>
            </p:extLst>
          </p:nvPr>
        </p:nvGraphicFramePr>
        <p:xfrm>
          <a:off x="349668" y="818987"/>
          <a:ext cx="4356939" cy="2590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47871"/>
                <a:gridCol w="1999248"/>
                <a:gridCol w="1509820"/>
              </a:tblGrid>
              <a:tr h="131173">
                <a:tc>
                  <a:txBody>
                    <a:bodyPr/>
                    <a:lstStyle/>
                    <a:p>
                      <a:r>
                        <a:rPr lang="zh-CN" altLang="en-US" sz="7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阶段</a:t>
                      </a:r>
                      <a:endParaRPr lang="zh-CN" altLang="en-US" sz="700" b="1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7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迭代一（</a:t>
                      </a:r>
                      <a:r>
                        <a:rPr lang="en-US" altLang="zh-CN" sz="7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MVP</a:t>
                      </a:r>
                      <a:r>
                        <a:rPr lang="zh-CN" altLang="en-US" sz="7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）</a:t>
                      </a:r>
                      <a:endParaRPr lang="zh-CN" altLang="en-US" sz="700" b="1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7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787038">
                <a:tc>
                  <a:txBody>
                    <a:bodyPr/>
                    <a:lstStyle/>
                    <a:p>
                      <a:r>
                        <a:rPr lang="en-US" altLang="zh-CN" sz="7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UE</a:t>
                      </a:r>
                      <a:r>
                        <a:rPr lang="zh-CN" altLang="en-US" sz="7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用户体验优化工作</a:t>
                      </a:r>
                      <a:endParaRPr lang="zh-CN" altLang="en-US" sz="7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项目研究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市场研究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产品分析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竞品调研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用户画像</a:t>
                      </a:r>
                    </a:p>
                    <a:p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UED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体验设计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原型设计（产品策划、视觉设计、架构原型）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复盘测试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设计走查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项目复盘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真实场景测试</a:t>
                      </a: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输出迭代方案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专业</a:t>
                      </a:r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UED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厂商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费用预算 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en-US" altLang="zh-CN" sz="6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</a:t>
                      </a:r>
                      <a:r>
                        <a:rPr lang="zh-CN" altLang="en-US" sz="6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</a:p>
                  </a:txBody>
                  <a:tcPr anchor="ctr"/>
                </a:tc>
              </a:tr>
              <a:tr h="665956">
                <a:tc>
                  <a:txBody>
                    <a:bodyPr/>
                    <a:lstStyle/>
                    <a:p>
                      <a:r>
                        <a:rPr lang="zh-CN" altLang="en-US" sz="7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系统优化工作</a:t>
                      </a:r>
                      <a:endParaRPr lang="zh-CN" altLang="en-US" sz="7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整体应用架构设计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前端工程化设计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接口设计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数据库优化设计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兼容性设计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自动化测试方案设计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灰度发布设计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DevOps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日志及监控设计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微信服务号开发改造实施（</a:t>
                      </a:r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MVP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）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4*3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个月</a:t>
                      </a:r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*1.9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/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月 * </a:t>
                      </a:r>
                      <a:r>
                        <a:rPr lang="en-US" altLang="zh-CN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1.25</a:t>
                      </a:r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（测试成本）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zh-CN" altLang="en-US" sz="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费用预算</a:t>
                      </a:r>
                      <a:endParaRPr lang="en-US" altLang="zh-CN" sz="6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en-US" altLang="zh-CN" sz="6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28.5</a:t>
                      </a:r>
                      <a:r>
                        <a:rPr lang="zh-CN" altLang="en-US" sz="6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  <a:endParaRPr lang="en-US" altLang="zh-CN" sz="600" b="1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</a:tr>
              <a:tr h="131173">
                <a:tc>
                  <a:txBody>
                    <a:bodyPr/>
                    <a:lstStyle/>
                    <a:p>
                      <a:r>
                        <a:rPr lang="zh-CN" altLang="en-US" sz="7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费用合计</a:t>
                      </a:r>
                      <a:endParaRPr lang="zh-CN" altLang="en-US" sz="7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7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53.5</a:t>
                      </a:r>
                      <a:r>
                        <a:rPr lang="zh-CN" altLang="en-US" sz="700" b="1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万</a:t>
                      </a:r>
                      <a:endParaRPr lang="zh-CN" altLang="en-US" sz="700" b="1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图表 5"/>
          <p:cNvGraphicFramePr/>
          <p:nvPr>
            <p:extLst>
              <p:ext uri="{D42A27DB-BD31-4B8C-83A1-F6EECF244321}">
                <p14:modId xmlns:p14="http://schemas.microsoft.com/office/powerpoint/2010/main" val="3828751457"/>
              </p:ext>
            </p:extLst>
          </p:nvPr>
        </p:nvGraphicFramePr>
        <p:xfrm>
          <a:off x="4943330" y="692924"/>
          <a:ext cx="3437896" cy="21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53422" y="2861873"/>
            <a:ext cx="39616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UE</a:t>
            </a:r>
            <a:r>
              <a:rPr lang="zh-CN" altLang="en-US" sz="9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初期投入说明</a:t>
            </a: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r>
              <a:rPr lang="zh-CN" altLang="en-US" sz="9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首先已经根据最小化原则，只优化与客户体验最紧密的核心业务流程（微信服务号注册、交易流程），其他模块页面已经没有第一次迭代范围内；</a:t>
            </a: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r>
              <a:rPr lang="zh-CN" altLang="en-US" sz="9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其次，因为</a:t>
            </a:r>
            <a:r>
              <a:rPr lang="en-US" altLang="zh-CN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UE</a:t>
            </a:r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和功能性开发的</a:t>
            </a:r>
            <a:r>
              <a:rPr lang="en-US" altLang="zh-CN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MVP</a:t>
            </a:r>
            <a:r>
              <a:rPr lang="zh-CN" altLang="en-US" sz="9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不同，需要更全面和整体的考虑，比如整体的平台风格和体验设计；</a:t>
            </a: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r>
              <a:rPr lang="zh-CN" altLang="en-US" sz="9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从效果上看，一次性改版的用户体验是最好的，给客户全新的体验；分批次上，批次间优化可能脱节，逐步优化用户体验会削弱，效果不达预期</a:t>
            </a:r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endParaRPr lang="en-US" altLang="zh-CN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85800" lvl="1" indent="-228600">
              <a:buFont typeface="+mj-lt"/>
              <a:buAutoNum type="alphaLcParenR"/>
            </a:pPr>
            <a:endParaRPr lang="zh-CN" altLang="en-US" sz="9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03014" y="849621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合计全年：</a:t>
            </a:r>
            <a:r>
              <a:rPr lang="en-US" altLang="zh-CN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开发费用合计</a:t>
            </a:r>
            <a:r>
              <a:rPr lang="zh-CN" altLang="en-US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85.5</a:t>
            </a:r>
            <a:r>
              <a:rPr lang="zh-CN" altLang="en-US" sz="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endParaRPr lang="zh-CN" altLang="en-US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224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合理在现有人力资源基础上进行配置，并组建项目团队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8748" y="2334554"/>
            <a:ext cx="17944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00" b="1" dirty="0" smtClean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专业</a:t>
            </a:r>
            <a:r>
              <a:rPr lang="en-US" altLang="zh-CN" sz="800" b="1" dirty="0" smtClean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UED</a:t>
            </a:r>
            <a:r>
              <a:rPr lang="zh-CN" altLang="en-US" sz="800" b="1" dirty="0" smtClean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厂商</a:t>
            </a:r>
            <a:endParaRPr lang="en-US" altLang="zh-CN" sz="800" b="1" dirty="0" smtClean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r>
              <a:rPr lang="zh-CN" altLang="en-US" sz="800" b="1" dirty="0" smtClean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项目费用：</a:t>
            </a:r>
            <a:r>
              <a:rPr lang="en-US" altLang="zh-CN" sz="800" b="1" dirty="0" smtClean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&lt;25</a:t>
            </a:r>
            <a:r>
              <a:rPr lang="zh-CN" altLang="en-US" sz="800" b="1" dirty="0" smtClean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万</a:t>
            </a:r>
            <a:endParaRPr lang="en-US" altLang="zh-CN" sz="8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5201"/>
            <a:ext cx="9144000" cy="35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8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830"/>
            <a:ext cx="9144000" cy="3349648"/>
          </a:xfrm>
          <a:prstGeom prst="rect">
            <a:avLst/>
          </a:prstGeom>
        </p:spPr>
      </p:pic>
      <p:sp>
        <p:nvSpPr>
          <p:cNvPr id="2" name="标题 4"/>
          <p:cNvSpPr txBox="1">
            <a:spLocks/>
          </p:cNvSpPr>
          <p:nvPr/>
        </p:nvSpPr>
        <p:spPr>
          <a:xfrm>
            <a:off x="827356" y="96901"/>
            <a:ext cx="6692109" cy="304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12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可能存在的风险和问题</a:t>
            </a:r>
            <a:endParaRPr lang="en-US" altLang="zh-CN" sz="12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066722" y="984804"/>
            <a:ext cx="242253" cy="24225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5066722" y="2325025"/>
            <a:ext cx="242253" cy="24225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5066722" y="3894428"/>
            <a:ext cx="242253" cy="24225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4052283" y="1389141"/>
            <a:ext cx="242253" cy="24225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4052282" y="2482518"/>
            <a:ext cx="242253" cy="24225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637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59"/>
          <a:stretch/>
        </p:blipFill>
        <p:spPr>
          <a:xfrm>
            <a:off x="0" y="0"/>
            <a:ext cx="9143996" cy="3795713"/>
          </a:xfrm>
          <a:prstGeom prst="rect">
            <a:avLst/>
          </a:prstGeom>
        </p:spPr>
      </p:pic>
      <p:sp>
        <p:nvSpPr>
          <p:cNvPr id="8" name="前言"/>
          <p:cNvSpPr>
            <a:spLocks noChangeArrowheads="1"/>
          </p:cNvSpPr>
          <p:nvPr/>
        </p:nvSpPr>
        <p:spPr bwMode="auto">
          <a:xfrm>
            <a:off x="2980754" y="3083421"/>
            <a:ext cx="3598726" cy="67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CN" sz="3600" b="1" dirty="0" smtClean="0">
                <a:solidFill>
                  <a:schemeClr val="bg1"/>
                </a:solidFill>
              </a:rPr>
              <a:t>THANK YOU</a:t>
            </a:r>
            <a:r>
              <a:rPr lang="zh-CN" altLang="en-US" sz="3600" b="1" dirty="0" smtClean="0">
                <a:solidFill>
                  <a:schemeClr val="bg1"/>
                </a:solidFill>
              </a:rPr>
              <a:t>！</a:t>
            </a:r>
            <a:endParaRPr lang="zh-CN" altLang="en-US" sz="3600" dirty="0">
              <a:solidFill>
                <a:schemeClr val="bg1"/>
              </a:solidFill>
              <a:sym typeface="Impact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4959839"/>
            <a:ext cx="9144000" cy="195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880" y="4089220"/>
            <a:ext cx="3338457" cy="47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0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solidFill>
          <a:schemeClr val="bg1"/>
        </a:solidFill>
        <a:ln>
          <a:solidFill>
            <a:schemeClr val="accent1"/>
          </a:solidFill>
        </a:ln>
      </a:spPr>
      <a:bodyPr/>
      <a:lstStyle/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82003</TotalTime>
  <Words>1351</Words>
  <Application>Microsoft Office PowerPoint</Application>
  <PresentationFormat>全屏显示(16:9)</PresentationFormat>
  <Paragraphs>171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Microsoft YaHei UI Light</vt:lpstr>
      <vt:lpstr>宋体</vt:lpstr>
      <vt:lpstr>微软雅黑</vt:lpstr>
      <vt:lpstr>微软雅黑 Light</vt:lpstr>
      <vt:lpstr>Arial</vt:lpstr>
      <vt:lpstr>Calibri</vt:lpstr>
      <vt:lpstr>Calibri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po du</dc:creator>
  <cp:lastModifiedBy>马晓强</cp:lastModifiedBy>
  <cp:revision>2112</cp:revision>
  <cp:lastPrinted>2019-01-21T09:46:06Z</cp:lastPrinted>
  <dcterms:created xsi:type="dcterms:W3CDTF">2014-03-03T15:50:35Z</dcterms:created>
  <dcterms:modified xsi:type="dcterms:W3CDTF">2019-03-06T10:39:03Z</dcterms:modified>
</cp:coreProperties>
</file>