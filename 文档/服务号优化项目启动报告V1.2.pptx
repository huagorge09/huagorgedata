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5" r:id="rId3"/>
    <p:sldId id="258" r:id="rId4"/>
    <p:sldId id="270" r:id="rId5"/>
    <p:sldId id="275" r:id="rId6"/>
    <p:sldId id="277" r:id="rId7"/>
    <p:sldId id="276" r:id="rId8"/>
    <p:sldId id="267" r:id="rId9"/>
    <p:sldId id="271" r:id="rId10"/>
    <p:sldId id="268" r:id="rId11"/>
    <p:sldId id="272" r:id="rId12"/>
    <p:sldId id="264"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6111"/>
    <a:srgbClr val="DF60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99" autoAdjust="0"/>
    <p:restoredTop sz="95179" autoAdjust="0"/>
  </p:normalViewPr>
  <p:slideViewPr>
    <p:cSldViewPr snapToGrid="0">
      <p:cViewPr>
        <p:scale>
          <a:sx n="125" d="100"/>
          <a:sy n="125" d="100"/>
        </p:scale>
        <p:origin x="1548" y="1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9490F-C7E5-4505-AB48-2B3FC87F12D8}" type="datetimeFigureOut">
              <a:rPr lang="zh-CN" altLang="en-US" smtClean="0"/>
              <a:t>2019/4/25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5FFA93-A058-4333-ADB9-2FE39BC36F3E}" type="slidenum">
              <a:rPr lang="zh-CN" altLang="en-US" smtClean="0"/>
              <a:t>‹#›</a:t>
            </a:fld>
            <a:endParaRPr lang="zh-CN" altLang="en-US"/>
          </a:p>
        </p:txBody>
      </p:sp>
    </p:spTree>
    <p:extLst>
      <p:ext uri="{BB962C8B-B14F-4D97-AF65-F5344CB8AC3E}">
        <p14:creationId xmlns:p14="http://schemas.microsoft.com/office/powerpoint/2010/main" val="2270322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r>
              <a:rPr lang="en-US" smtClean="0"/>
              <a:t>TechEd 2013</a:t>
            </a:r>
            <a:endParaRPr lang="en-US" dirty="0"/>
          </a:p>
        </p:txBody>
      </p:sp>
      <p:sp>
        <p:nvSpPr>
          <p:cNvPr id="5" name="页脚占位符 4"/>
          <p:cNvSpPr>
            <a:spLocks noGrp="1"/>
          </p:cNvSpPr>
          <p:nvPr>
            <p:ph type="ftr" sz="quarter" idx="11"/>
          </p:nvPr>
        </p:nvSpPr>
        <p:spPr/>
        <p:txBody>
          <a:bodyPr/>
          <a:lstStyle/>
          <a:p>
            <a:pPr defTabSz="91333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日期占位符 5"/>
          <p:cNvSpPr>
            <a:spLocks noGrp="1"/>
          </p:cNvSpPr>
          <p:nvPr>
            <p:ph type="dt" idx="12"/>
          </p:nvPr>
        </p:nvSpPr>
        <p:spPr/>
        <p:txBody>
          <a:bodyPr/>
          <a:lstStyle/>
          <a:p>
            <a:fld id="{2DFDA5C7-BBAE-481E-8BF7-731156A2E2C1}" type="datetime8">
              <a:rPr lang="en-US" smtClean="0"/>
              <a:t>4/25/2019 1:20 PM</a:t>
            </a:fld>
            <a:endParaRPr lang="en-US" dirty="0"/>
          </a:p>
        </p:txBody>
      </p:sp>
      <p:sp>
        <p:nvSpPr>
          <p:cNvPr id="7" name="灯片编号占位符 6"/>
          <p:cNvSpPr>
            <a:spLocks noGrp="1"/>
          </p:cNvSpPr>
          <p:nvPr>
            <p:ph type="sldNum" sz="quarter" idx="13"/>
          </p:nvPr>
        </p:nvSpPr>
        <p:spPr/>
        <p:txBody>
          <a:bodyPr/>
          <a:lstStyle/>
          <a:p>
            <a:fld id="{B4008EB6-D09E-4580-8CD6-DDB14511944F}" type="slidenum">
              <a:rPr lang="en-US" smtClean="0"/>
              <a:t>1</a:t>
            </a:fld>
            <a:endParaRPr lang="en-US" dirty="0"/>
          </a:p>
        </p:txBody>
      </p:sp>
    </p:spTree>
    <p:extLst>
      <p:ext uri="{BB962C8B-B14F-4D97-AF65-F5344CB8AC3E}">
        <p14:creationId xmlns:p14="http://schemas.microsoft.com/office/powerpoint/2010/main" val="1109660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41425"/>
            <a:ext cx="5956300" cy="334962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59F059C-BC53-4DE8-8404-7AF0A9D6B910}" type="slidenum">
              <a:rPr lang="zh-CN" altLang="en-US" smtClean="0"/>
              <a:pPr/>
              <a:t>12</a:t>
            </a:fld>
            <a:endParaRPr lang="zh-CN" altLang="en-US"/>
          </a:p>
        </p:txBody>
      </p:sp>
    </p:spTree>
    <p:extLst>
      <p:ext uri="{BB962C8B-B14F-4D97-AF65-F5344CB8AC3E}">
        <p14:creationId xmlns:p14="http://schemas.microsoft.com/office/powerpoint/2010/main" val="448788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1954954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9" name="矩形 8"/>
          <p:cNvSpPr/>
          <p:nvPr userDrawn="1"/>
        </p:nvSpPr>
        <p:spPr>
          <a:xfrm flipV="1">
            <a:off x="900" y="6332555"/>
            <a:ext cx="951548" cy="1428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0" name="矩形 30"/>
          <p:cNvSpPr>
            <a:spLocks noChangeArrowheads="1"/>
          </p:cNvSpPr>
          <p:nvPr userDrawn="1"/>
        </p:nvSpPr>
        <p:spPr bwMode="auto">
          <a:xfrm>
            <a:off x="1101101" y="6332555"/>
            <a:ext cx="71426"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1" name="矩形 31"/>
          <p:cNvSpPr>
            <a:spLocks noChangeArrowheads="1"/>
          </p:cNvSpPr>
          <p:nvPr userDrawn="1"/>
        </p:nvSpPr>
        <p:spPr bwMode="auto">
          <a:xfrm>
            <a:off x="1017444" y="6332555"/>
            <a:ext cx="48377"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3" name="矩形 12"/>
          <p:cNvSpPr/>
          <p:nvPr userDrawn="1"/>
        </p:nvSpPr>
        <p:spPr>
          <a:xfrm flipV="1">
            <a:off x="3048467" y="6343902"/>
            <a:ext cx="9142600" cy="13152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6" name="矩形 15"/>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7"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8"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4" name="文本框 13"/>
          <p:cNvSpPr txBox="1"/>
          <p:nvPr userDrawn="1"/>
        </p:nvSpPr>
        <p:spPr>
          <a:xfrm>
            <a:off x="1326086" y="6294622"/>
            <a:ext cx="1562031" cy="238848"/>
          </a:xfrm>
          <a:prstGeom prst="rect">
            <a:avLst/>
          </a:prstGeom>
          <a:noFill/>
        </p:spPr>
        <p:txBody>
          <a:bodyPr wrap="none" rtlCol="0">
            <a:spAutoFit/>
          </a:bodyPr>
          <a:lstStyle/>
          <a:p>
            <a:r>
              <a:rPr kumimoji="1" lang="zh-CN" altLang="en-US" sz="952" spc="317" dirty="0" smtClean="0">
                <a:solidFill>
                  <a:srgbClr val="DF6012"/>
                </a:solidFill>
                <a:latin typeface="Microsoft YaHei" charset="-122"/>
                <a:ea typeface="Microsoft YaHei" charset="-122"/>
                <a:cs typeface="Microsoft YaHei" charset="-122"/>
              </a:rPr>
              <a:t>主动管理 多元投资</a:t>
            </a:r>
            <a:endParaRPr kumimoji="1" lang="zh-CN" altLang="en-US" sz="952" spc="317" dirty="0">
              <a:solidFill>
                <a:srgbClr val="DF6012"/>
              </a:solidFill>
              <a:latin typeface="Microsoft YaHei" charset="-122"/>
              <a:ea typeface="Microsoft YaHei" charset="-122"/>
              <a:cs typeface="Microsoft YaHei" charset="-122"/>
            </a:endParaRPr>
          </a:p>
        </p:txBody>
      </p:sp>
      <p:pic>
        <p:nvPicPr>
          <p:cNvPr id="15" name="图片 14"/>
          <p:cNvPicPr>
            <a:picLocks noChangeAspect="1"/>
          </p:cNvPicPr>
          <p:nvPr userDrawn="1"/>
        </p:nvPicPr>
        <p:blipFill>
          <a:blip r:embed="rId2" cstate="email">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pic>
        <p:nvPicPr>
          <p:cNvPr id="12" name="图片 11"/>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spTree>
    <p:extLst>
      <p:ext uri="{BB962C8B-B14F-4D97-AF65-F5344CB8AC3E}">
        <p14:creationId xmlns:p14="http://schemas.microsoft.com/office/powerpoint/2010/main" val="247167679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矩形 3"/>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5"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6"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pic>
        <p:nvPicPr>
          <p:cNvPr id="8" name="图片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pic>
        <p:nvPicPr>
          <p:cNvPr id="10" name="图片 9"/>
          <p:cNvPicPr>
            <a:picLocks noChangeAspect="1"/>
          </p:cNvPicPr>
          <p:nvPr userDrawn="1"/>
        </p:nvPicPr>
        <p:blipFill>
          <a:blip r:embed="rId3" cstate="email">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spTree>
    <p:extLst>
      <p:ext uri="{BB962C8B-B14F-4D97-AF65-F5344CB8AC3E}">
        <p14:creationId xmlns:p14="http://schemas.microsoft.com/office/powerpoint/2010/main" val="349885574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矩形 2"/>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4"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5"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pic>
        <p:nvPicPr>
          <p:cNvPr id="9" name="图片 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pic>
        <p:nvPicPr>
          <p:cNvPr id="7" name="图片 6"/>
          <p:cNvPicPr>
            <a:picLocks noChangeAspect="1"/>
          </p:cNvPicPr>
          <p:nvPr userDrawn="1"/>
        </p:nvPicPr>
        <p:blipFill>
          <a:blip r:embed="rId3" cstate="email">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spTree>
    <p:extLst>
      <p:ext uri="{BB962C8B-B14F-4D97-AF65-F5344CB8AC3E}">
        <p14:creationId xmlns:p14="http://schemas.microsoft.com/office/powerpoint/2010/main" val="422721772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3" name="矩形 2"/>
          <p:cNvSpPr/>
          <p:nvPr userDrawn="1"/>
        </p:nvSpPr>
        <p:spPr>
          <a:xfrm flipV="1">
            <a:off x="0" y="685787"/>
            <a:ext cx="951548" cy="142875"/>
          </a:xfrm>
          <a:prstGeom prst="rect">
            <a:avLst/>
          </a:prstGeom>
          <a:solidFill>
            <a:srgbClr val="DF6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4" name="矩形 30"/>
          <p:cNvSpPr>
            <a:spLocks noChangeArrowheads="1"/>
          </p:cNvSpPr>
          <p:nvPr userDrawn="1"/>
        </p:nvSpPr>
        <p:spPr bwMode="auto">
          <a:xfrm>
            <a:off x="1100200" y="685786"/>
            <a:ext cx="71426"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5" name="矩形 31"/>
          <p:cNvSpPr>
            <a:spLocks noChangeArrowheads="1"/>
          </p:cNvSpPr>
          <p:nvPr userDrawn="1"/>
        </p:nvSpPr>
        <p:spPr bwMode="auto">
          <a:xfrm>
            <a:off x="1016544" y="685786"/>
            <a:ext cx="48377" cy="142876"/>
          </a:xfrm>
          <a:prstGeom prst="rect">
            <a:avLst/>
          </a:prstGeom>
          <a:solidFill>
            <a:srgbClr val="DF6012"/>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pic>
        <p:nvPicPr>
          <p:cNvPr id="7" name="图片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43134" y="200217"/>
            <a:ext cx="1498404" cy="385291"/>
          </a:xfrm>
          <a:prstGeom prst="rect">
            <a:avLst/>
          </a:prstGeom>
        </p:spPr>
      </p:pic>
      <p:pic>
        <p:nvPicPr>
          <p:cNvPr id="9" name="图片 8"/>
          <p:cNvPicPr>
            <a:picLocks noChangeAspect="1"/>
          </p:cNvPicPr>
          <p:nvPr userDrawn="1"/>
        </p:nvPicPr>
        <p:blipFill>
          <a:blip r:embed="rId3" cstate="email">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8410430" y="2752255"/>
            <a:ext cx="3780637" cy="3781215"/>
          </a:xfrm>
          <a:prstGeom prst="rect">
            <a:avLst/>
          </a:prstGeom>
        </p:spPr>
      </p:pic>
    </p:spTree>
    <p:extLst>
      <p:ext uri="{BB962C8B-B14F-4D97-AF65-F5344CB8AC3E}">
        <p14:creationId xmlns:p14="http://schemas.microsoft.com/office/powerpoint/2010/main" val="39812654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8982" y="0"/>
            <a:ext cx="12210982" cy="3341734"/>
          </a:xfrm>
          <a:prstGeom prst="rect">
            <a:avLst/>
          </a:prstGeom>
        </p:spPr>
      </p:pic>
      <p:sp>
        <p:nvSpPr>
          <p:cNvPr id="19" name="矩形 18"/>
          <p:cNvSpPr/>
          <p:nvPr userDrawn="1"/>
        </p:nvSpPr>
        <p:spPr>
          <a:xfrm>
            <a:off x="-9050" y="6248784"/>
            <a:ext cx="12191118" cy="38312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2"/>
          </a:p>
        </p:txBody>
      </p:sp>
      <p:sp>
        <p:nvSpPr>
          <p:cNvPr id="20" name="前言"/>
          <p:cNvSpPr>
            <a:spLocks noChangeArrowheads="1"/>
          </p:cNvSpPr>
          <p:nvPr userDrawn="1"/>
        </p:nvSpPr>
        <p:spPr bwMode="auto">
          <a:xfrm>
            <a:off x="3573564" y="3567014"/>
            <a:ext cx="4529996" cy="853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53594" tIns="76797" rIns="153594" bIns="7679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spcBef>
                <a:spcPct val="0"/>
              </a:spcBef>
              <a:buNone/>
            </a:pPr>
            <a:r>
              <a:rPr lang="en-US" altLang="zh-CN" sz="4536" b="1" dirty="0">
                <a:solidFill>
                  <a:srgbClr val="DE6111"/>
                </a:solidFill>
              </a:rPr>
              <a:t>THANK YOU</a:t>
            </a:r>
            <a:r>
              <a:rPr lang="zh-CN" altLang="en-US" sz="4536" b="1" dirty="0">
                <a:solidFill>
                  <a:srgbClr val="DE6111"/>
                </a:solidFill>
              </a:rPr>
              <a:t>！</a:t>
            </a:r>
            <a:endParaRPr lang="zh-CN" altLang="en-US" sz="4536" dirty="0">
              <a:solidFill>
                <a:srgbClr val="DE6111"/>
              </a:solidFill>
              <a:sym typeface="Impact" pitchFamily="34" charset="0"/>
            </a:endParaRPr>
          </a:p>
        </p:txBody>
      </p:sp>
      <p:pic>
        <p:nvPicPr>
          <p:cNvPr id="21" name="图片 20"/>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306405" y="4583863"/>
            <a:ext cx="5064315" cy="805912"/>
          </a:xfrm>
          <a:prstGeom prst="rect">
            <a:avLst/>
          </a:prstGeom>
        </p:spPr>
      </p:pic>
    </p:spTree>
    <p:extLst>
      <p:ext uri="{BB962C8B-B14F-4D97-AF65-F5344CB8AC3E}">
        <p14:creationId xmlns:p14="http://schemas.microsoft.com/office/powerpoint/2010/main" val="100679741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userDrawn="1"/>
        </p:nvSpPr>
        <p:spPr>
          <a:xfrm flipV="1">
            <a:off x="900" y="6332555"/>
            <a:ext cx="951548" cy="1428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2" name="矩形 30"/>
          <p:cNvSpPr>
            <a:spLocks noChangeArrowheads="1"/>
          </p:cNvSpPr>
          <p:nvPr userDrawn="1"/>
        </p:nvSpPr>
        <p:spPr bwMode="auto">
          <a:xfrm>
            <a:off x="1101101" y="6332555"/>
            <a:ext cx="71426"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3" name="矩形 31"/>
          <p:cNvSpPr>
            <a:spLocks noChangeArrowheads="1"/>
          </p:cNvSpPr>
          <p:nvPr userDrawn="1"/>
        </p:nvSpPr>
        <p:spPr bwMode="auto">
          <a:xfrm>
            <a:off x="1017444" y="6332555"/>
            <a:ext cx="48377" cy="142876"/>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4" name="矩形 13"/>
          <p:cNvSpPr/>
          <p:nvPr userDrawn="1"/>
        </p:nvSpPr>
        <p:spPr>
          <a:xfrm flipV="1">
            <a:off x="3048467" y="6343902"/>
            <a:ext cx="9142600" cy="13152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6"/>
            <a:endParaRPr lang="zh-CN" altLang="en-US" sz="1700">
              <a:solidFill>
                <a:prstClr val="white"/>
              </a:solidFill>
            </a:endParaRPr>
          </a:p>
        </p:txBody>
      </p:sp>
      <p:sp>
        <p:nvSpPr>
          <p:cNvPr id="16" name="文本框 15"/>
          <p:cNvSpPr txBox="1"/>
          <p:nvPr userDrawn="1"/>
        </p:nvSpPr>
        <p:spPr>
          <a:xfrm>
            <a:off x="1326086" y="6294622"/>
            <a:ext cx="1562031" cy="238848"/>
          </a:xfrm>
          <a:prstGeom prst="rect">
            <a:avLst/>
          </a:prstGeom>
          <a:noFill/>
        </p:spPr>
        <p:txBody>
          <a:bodyPr wrap="none" rtlCol="0">
            <a:spAutoFit/>
          </a:bodyPr>
          <a:lstStyle/>
          <a:p>
            <a:r>
              <a:rPr kumimoji="1" lang="zh-CN" altLang="en-US" sz="952" spc="317" dirty="0" smtClean="0">
                <a:solidFill>
                  <a:srgbClr val="DF6012"/>
                </a:solidFill>
                <a:latin typeface="Microsoft YaHei" charset="-122"/>
                <a:ea typeface="Microsoft YaHei" charset="-122"/>
                <a:cs typeface="Microsoft YaHei" charset="-122"/>
              </a:rPr>
              <a:t>主动管理 多元投资</a:t>
            </a:r>
            <a:endParaRPr kumimoji="1" lang="zh-CN" altLang="en-US" sz="952" spc="317" dirty="0">
              <a:solidFill>
                <a:srgbClr val="DF6012"/>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425608689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4" r:id="rId4"/>
    <p:sldLayoutId id="2147483667" r:id="rId5"/>
    <p:sldLayoutId id="2147483666" r:id="rId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11.png"/><Relationship Id="rId5" Type="http://schemas.openxmlformats.org/officeDocument/2006/relationships/image" Target="../media/image9.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oleObject" Target="../embeddings/oleObject2.bin"/><Relationship Id="rId7"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image" Target="../media/image12.wmf"/></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18.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21.wmf"/><Relationship Id="rId5" Type="http://schemas.openxmlformats.org/officeDocument/2006/relationships/package" Target="../embeddings/Microsoft_Word___1.docx"/><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package" Target="../embeddings/Microsoft_Word___2.docx"/><Relationship Id="rId4"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8712" r="759" b="21005"/>
          <a:stretch/>
        </p:blipFill>
        <p:spPr>
          <a:xfrm>
            <a:off x="0" y="0"/>
            <a:ext cx="12189123" cy="5134708"/>
          </a:xfrm>
          <a:prstGeom prst="rect">
            <a:avLst/>
          </a:prstGeom>
        </p:spPr>
      </p:pic>
      <p:sp>
        <p:nvSpPr>
          <p:cNvPr id="12" name="矩形 30"/>
          <p:cNvSpPr>
            <a:spLocks noChangeArrowheads="1"/>
          </p:cNvSpPr>
          <p:nvPr/>
        </p:nvSpPr>
        <p:spPr bwMode="auto">
          <a:xfrm>
            <a:off x="1101101" y="6332110"/>
            <a:ext cx="71426" cy="142855"/>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13" name="矩形 31"/>
          <p:cNvSpPr>
            <a:spLocks noChangeArrowheads="1"/>
          </p:cNvSpPr>
          <p:nvPr/>
        </p:nvSpPr>
        <p:spPr bwMode="auto">
          <a:xfrm>
            <a:off x="1017445" y="6332110"/>
            <a:ext cx="48377" cy="142855"/>
          </a:xfrm>
          <a:prstGeom prst="rect">
            <a:avLst/>
          </a:prstGeom>
          <a:solidFill>
            <a:srgbClr val="002060"/>
          </a:solidFill>
          <a:ln w="9525">
            <a:noFill/>
            <a:miter lim="800000"/>
            <a:headEnd/>
            <a:tailEnd/>
          </a:ln>
        </p:spPr>
        <p:txBody>
          <a:bodyPr anchor="ctr"/>
          <a:lstStyle/>
          <a:p>
            <a:pPr algn="ctr" defTabSz="914216" fontAlgn="b"/>
            <a:endParaRPr lang="zh-CN" altLang="en-US" sz="1700">
              <a:solidFill>
                <a:prstClr val="white">
                  <a:lumMod val="65000"/>
                </a:prstClr>
              </a:solidFill>
              <a:sym typeface="Calibri" pitchFamily="34" charset="0"/>
            </a:endParaRPr>
          </a:p>
        </p:txBody>
      </p:sp>
      <p:sp>
        <p:nvSpPr>
          <p:cNvPr id="21" name="TextBox 8"/>
          <p:cNvSpPr txBox="1"/>
          <p:nvPr/>
        </p:nvSpPr>
        <p:spPr>
          <a:xfrm>
            <a:off x="1440739" y="5145204"/>
            <a:ext cx="9499446" cy="548292"/>
          </a:xfrm>
          <a:prstGeom prst="rect">
            <a:avLst/>
          </a:prstGeom>
          <a:noFill/>
        </p:spPr>
        <p:txBody>
          <a:bodyPr wrap="square" rtlCol="0">
            <a:spAutoFit/>
          </a:bodyPr>
          <a:lstStyle/>
          <a:p>
            <a:pPr algn="ctr" defTabSz="914216"/>
            <a:r>
              <a:rPr lang="zh-CN" altLang="en-US" sz="2963" dirty="0">
                <a:solidFill>
                  <a:srgbClr val="002060"/>
                </a:solidFill>
                <a:latin typeface="微软雅黑" pitchFamily="34" charset="-122"/>
                <a:ea typeface="微软雅黑" pitchFamily="34" charset="-122"/>
              </a:rPr>
              <a:t>微</a:t>
            </a:r>
            <a:r>
              <a:rPr lang="zh-CN" altLang="en-US" sz="2963" dirty="0" smtClean="0">
                <a:solidFill>
                  <a:srgbClr val="002060"/>
                </a:solidFill>
                <a:latin typeface="微软雅黑" pitchFamily="34" charset="-122"/>
                <a:ea typeface="微软雅黑" pitchFamily="34" charset="-122"/>
              </a:rPr>
              <a:t>信服务号优化项目启动</a:t>
            </a:r>
            <a:r>
              <a:rPr lang="en-US" altLang="zh-CN" sz="2963" dirty="0" smtClean="0">
                <a:solidFill>
                  <a:srgbClr val="002060"/>
                </a:solidFill>
                <a:latin typeface="微软雅黑" pitchFamily="34" charset="-122"/>
                <a:ea typeface="微软雅黑" pitchFamily="34" charset="-122"/>
              </a:rPr>
              <a:t>&amp;</a:t>
            </a:r>
            <a:r>
              <a:rPr lang="zh-CN" altLang="en-US" sz="2963" dirty="0" smtClean="0">
                <a:solidFill>
                  <a:srgbClr val="002060"/>
                </a:solidFill>
                <a:latin typeface="微软雅黑" pitchFamily="34" charset="-122"/>
                <a:ea typeface="微软雅黑" pitchFamily="34" charset="-122"/>
              </a:rPr>
              <a:t>评审</a:t>
            </a:r>
            <a:endParaRPr lang="en-US" altLang="zh-CN" sz="1905" dirty="0">
              <a:solidFill>
                <a:srgbClr val="002060"/>
              </a:solidFill>
              <a:latin typeface="微软雅黑" pitchFamily="34" charset="-122"/>
              <a:ea typeface="微软雅黑" pitchFamily="34" charset="-122"/>
            </a:endParaRPr>
          </a:p>
        </p:txBody>
      </p:sp>
      <p:sp>
        <p:nvSpPr>
          <p:cNvPr id="17" name="TextBox 8"/>
          <p:cNvSpPr txBox="1"/>
          <p:nvPr/>
        </p:nvSpPr>
        <p:spPr>
          <a:xfrm>
            <a:off x="1440739" y="5784011"/>
            <a:ext cx="9499446" cy="548099"/>
          </a:xfrm>
          <a:prstGeom prst="rect">
            <a:avLst/>
          </a:prstGeom>
          <a:noFill/>
        </p:spPr>
        <p:txBody>
          <a:bodyPr wrap="square" rtlCol="0">
            <a:spAutoFit/>
          </a:bodyPr>
          <a:lstStyle/>
          <a:p>
            <a:pPr algn="ctr" defTabSz="914216"/>
            <a:r>
              <a:rPr lang="zh-CN" altLang="en-US" sz="1481" dirty="0" smtClean="0">
                <a:solidFill>
                  <a:srgbClr val="002060"/>
                </a:solidFill>
                <a:latin typeface="微软雅黑" pitchFamily="34" charset="-122"/>
                <a:ea typeface="微软雅黑" pitchFamily="34" charset="-122"/>
              </a:rPr>
              <a:t>网络金融部</a:t>
            </a:r>
            <a:endParaRPr lang="en-US" altLang="zh-CN" sz="1481" dirty="0">
              <a:solidFill>
                <a:srgbClr val="002060"/>
              </a:solidFill>
              <a:latin typeface="微软雅黑" pitchFamily="34" charset="-122"/>
              <a:ea typeface="微软雅黑" pitchFamily="34" charset="-122"/>
            </a:endParaRPr>
          </a:p>
          <a:p>
            <a:pPr algn="ctr" defTabSz="914216"/>
            <a:r>
              <a:rPr lang="en-US" altLang="zh-CN" sz="1481" dirty="0" smtClean="0">
                <a:solidFill>
                  <a:srgbClr val="002060"/>
                </a:solidFill>
                <a:latin typeface="微软雅黑" pitchFamily="34" charset="-122"/>
                <a:ea typeface="微软雅黑" pitchFamily="34" charset="-122"/>
              </a:rPr>
              <a:t>2019</a:t>
            </a:r>
            <a:r>
              <a:rPr lang="zh-CN" altLang="en-US" sz="1481" dirty="0" smtClean="0">
                <a:solidFill>
                  <a:srgbClr val="002060"/>
                </a:solidFill>
                <a:latin typeface="微软雅黑" pitchFamily="34" charset="-122"/>
                <a:ea typeface="微软雅黑" pitchFamily="34" charset="-122"/>
              </a:rPr>
              <a:t>年</a:t>
            </a:r>
            <a:r>
              <a:rPr lang="en-US" altLang="zh-CN" sz="1481" dirty="0" smtClean="0">
                <a:solidFill>
                  <a:srgbClr val="002060"/>
                </a:solidFill>
                <a:latin typeface="微软雅黑" pitchFamily="34" charset="-122"/>
                <a:ea typeface="微软雅黑" pitchFamily="34" charset="-122"/>
              </a:rPr>
              <a:t>4</a:t>
            </a:r>
            <a:r>
              <a:rPr lang="zh-CN" altLang="en-US" sz="1481" dirty="0" smtClean="0">
                <a:solidFill>
                  <a:srgbClr val="002060"/>
                </a:solidFill>
                <a:latin typeface="微软雅黑" pitchFamily="34" charset="-122"/>
                <a:ea typeface="微软雅黑" pitchFamily="34" charset="-122"/>
              </a:rPr>
              <a:t>月</a:t>
            </a:r>
            <a:endParaRPr lang="en-US" altLang="zh-CN" sz="1111" dirty="0">
              <a:solidFill>
                <a:srgbClr val="002060"/>
              </a:solidFill>
              <a:latin typeface="微软雅黑" pitchFamily="34" charset="-122"/>
              <a:ea typeface="微软雅黑" pitchFamily="34" charset="-122"/>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4061" y="60450"/>
            <a:ext cx="1717267" cy="802191"/>
          </a:xfrm>
          <a:prstGeom prst="rect">
            <a:avLst/>
          </a:prstGeom>
        </p:spPr>
      </p:pic>
    </p:spTree>
    <p:extLst>
      <p:ext uri="{BB962C8B-B14F-4D97-AF65-F5344CB8AC3E}">
        <p14:creationId xmlns:p14="http://schemas.microsoft.com/office/powerpoint/2010/main" val="35137599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会议议题</a:t>
            </a:r>
            <a:endParaRPr lang="zh-CN" altLang="en-US" sz="1200" b="1" dirty="0"/>
          </a:p>
        </p:txBody>
      </p:sp>
      <p:sp>
        <p:nvSpPr>
          <p:cNvPr id="3" name="文本框 2"/>
          <p:cNvSpPr txBox="1"/>
          <p:nvPr/>
        </p:nvSpPr>
        <p:spPr>
          <a:xfrm>
            <a:off x="2286593" y="2156603"/>
            <a:ext cx="1858201" cy="2585323"/>
          </a:xfrm>
          <a:prstGeom prst="rect">
            <a:avLst/>
          </a:prstGeom>
          <a:noFill/>
        </p:spPr>
        <p:txBody>
          <a:bodyPr wrap="none" rtlCol="0">
            <a:spAutoFit/>
          </a:bodyPr>
          <a:lstStyle/>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项目范围</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项目日程计划</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smtClean="0">
                <a:latin typeface="微软雅黑" panose="020B0503020204020204" pitchFamily="34" charset="-122"/>
                <a:ea typeface="微软雅黑" panose="020B0503020204020204" pitchFamily="34" charset="-122"/>
              </a:rPr>
              <a:t>UE</a:t>
            </a:r>
            <a:r>
              <a:rPr lang="zh-CN" altLang="en-US" dirty="0" smtClean="0">
                <a:latin typeface="微软雅黑" panose="020B0503020204020204" pitchFamily="34" charset="-122"/>
                <a:ea typeface="微软雅黑" panose="020B0503020204020204" pitchFamily="34" charset="-122"/>
              </a:rPr>
              <a:t>及</a:t>
            </a:r>
            <a:r>
              <a:rPr lang="en-US" altLang="zh-CN" dirty="0" smtClean="0">
                <a:latin typeface="微软雅黑" panose="020B0503020204020204" pitchFamily="34" charset="-122"/>
                <a:ea typeface="微软雅黑" panose="020B0503020204020204" pitchFamily="34" charset="-122"/>
              </a:rPr>
              <a:t>UI</a:t>
            </a:r>
            <a:r>
              <a:rPr lang="zh-CN" altLang="en-US" dirty="0" smtClean="0">
                <a:latin typeface="微软雅黑" panose="020B0503020204020204" pitchFamily="34" charset="-122"/>
                <a:ea typeface="微软雅黑" panose="020B0503020204020204" pitchFamily="34" charset="-122"/>
              </a:rPr>
              <a:t>设计</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架构设计</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smtClean="0">
                <a:latin typeface="微软雅黑" panose="020B0503020204020204" pitchFamily="34" charset="-122"/>
                <a:ea typeface="微软雅黑" panose="020B0503020204020204" pitchFamily="34" charset="-122"/>
              </a:rPr>
              <a:t>开发过程管理</a:t>
            </a:r>
            <a:endParaRPr lang="en-US" altLang="zh-CN" dirty="0" smtClean="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dirty="0" smtClean="0">
                <a:latin typeface="微软雅黑" panose="020B0503020204020204" pitchFamily="34" charset="-122"/>
                <a:ea typeface="微软雅黑" panose="020B0503020204020204" pitchFamily="34" charset="-122"/>
              </a:rPr>
              <a:t>Q&amp;A</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438650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 name="图片 186"/>
          <p:cNvPicPr>
            <a:picLocks noChangeAspect="1"/>
          </p:cNvPicPr>
          <p:nvPr/>
        </p:nvPicPr>
        <p:blipFill>
          <a:blip r:embed="rId2"/>
          <a:stretch>
            <a:fillRect/>
          </a:stretch>
        </p:blipFill>
        <p:spPr>
          <a:xfrm>
            <a:off x="4321131" y="1254323"/>
            <a:ext cx="7279202" cy="4715727"/>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项目范围</a:t>
            </a:r>
            <a:endParaRPr lang="zh-CN" altLang="en-US" sz="1200" b="1" dirty="0"/>
          </a:p>
        </p:txBody>
      </p:sp>
      <p:sp>
        <p:nvSpPr>
          <p:cNvPr id="4" name="TextBox 8"/>
          <p:cNvSpPr txBox="1"/>
          <p:nvPr/>
        </p:nvSpPr>
        <p:spPr>
          <a:xfrm>
            <a:off x="510537" y="1254323"/>
            <a:ext cx="2701763"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本期</a:t>
            </a:r>
            <a:r>
              <a:rPr lang="en-US" altLang="zh-CN" sz="1693" dirty="0" smtClean="0">
                <a:solidFill>
                  <a:srgbClr val="2C4058"/>
                </a:solidFill>
                <a:latin typeface="微软雅黑" pitchFamily="34" charset="-122"/>
                <a:ea typeface="微软雅黑" pitchFamily="34" charset="-122"/>
              </a:rPr>
              <a:t>MVP</a:t>
            </a:r>
            <a:r>
              <a:rPr lang="zh-CN" altLang="en-US" sz="1693" dirty="0" smtClean="0">
                <a:solidFill>
                  <a:srgbClr val="2C4058"/>
                </a:solidFill>
                <a:latin typeface="微软雅黑" pitchFamily="34" charset="-122"/>
                <a:ea typeface="微软雅黑" pitchFamily="34" charset="-122"/>
              </a:rPr>
              <a:t>包括内容</a:t>
            </a:r>
            <a:endParaRPr lang="en-US" altLang="zh-CN" sz="1693" dirty="0">
              <a:solidFill>
                <a:srgbClr val="2C4058"/>
              </a:solidFill>
              <a:latin typeface="微软雅黑" pitchFamily="34" charset="-122"/>
              <a:ea typeface="微软雅黑" pitchFamily="34" charset="-122"/>
            </a:endParaRPr>
          </a:p>
        </p:txBody>
      </p:sp>
      <p:sp>
        <p:nvSpPr>
          <p:cNvPr id="5" name="TextBox 8"/>
          <p:cNvSpPr txBox="1"/>
          <p:nvPr/>
        </p:nvSpPr>
        <p:spPr>
          <a:xfrm>
            <a:off x="510536" y="1795294"/>
            <a:ext cx="4248745" cy="707886"/>
          </a:xfrm>
          <a:prstGeom prst="rect">
            <a:avLst/>
          </a:prstGeom>
          <a:noFill/>
        </p:spPr>
        <p:txBody>
          <a:bodyPr wrap="square" rtlCol="0">
            <a:spAutoFit/>
          </a:bodyPr>
          <a:lstStyle/>
          <a:p>
            <a:pPr defTabSz="914216">
              <a:lnSpc>
                <a:spcPts val="1587"/>
              </a:lnSpc>
            </a:pPr>
            <a:r>
              <a:rPr lang="zh-CN" altLang="en-US" sz="1058" spc="85" dirty="0" smtClean="0">
                <a:solidFill>
                  <a:srgbClr val="2C4058"/>
                </a:solidFill>
                <a:latin typeface="微软雅黑" pitchFamily="34" charset="-122"/>
                <a:ea typeface="微软雅黑" pitchFamily="34" charset="-122"/>
              </a:rPr>
              <a:t>除“我的”以外的全部页面，</a:t>
            </a:r>
            <a:endParaRPr lang="en-US" altLang="zh-CN" sz="1058" spc="85" dirty="0" smtClean="0">
              <a:solidFill>
                <a:srgbClr val="2C4058"/>
              </a:solidFill>
              <a:latin typeface="微软雅黑" pitchFamily="34" charset="-122"/>
              <a:ea typeface="微软雅黑" pitchFamily="34" charset="-122"/>
            </a:endParaRPr>
          </a:p>
          <a:p>
            <a:pPr defTabSz="914216">
              <a:lnSpc>
                <a:spcPts val="1587"/>
              </a:lnSpc>
            </a:pPr>
            <a:r>
              <a:rPr lang="zh-CN" altLang="en-US" sz="1058" spc="85" dirty="0" smtClean="0">
                <a:solidFill>
                  <a:srgbClr val="2C4058"/>
                </a:solidFill>
                <a:latin typeface="微软雅黑" pitchFamily="34" charset="-122"/>
                <a:ea typeface="微软雅黑" pitchFamily="34" charset="-122"/>
              </a:rPr>
              <a:t>含“首页”、“产品”、“理财顾问”、“持仓”，以及</a:t>
            </a:r>
            <a:r>
              <a:rPr lang="en-US" altLang="zh-CN" sz="1058" spc="85" dirty="0" smtClean="0">
                <a:solidFill>
                  <a:srgbClr val="2C4058"/>
                </a:solidFill>
                <a:latin typeface="微软雅黑" pitchFamily="34" charset="-122"/>
                <a:ea typeface="微软雅黑" pitchFamily="34" charset="-122"/>
              </a:rPr>
              <a:t>MGM</a:t>
            </a:r>
            <a:r>
              <a:rPr lang="zh-CN" altLang="en-US" sz="1058" spc="85" dirty="0" smtClean="0">
                <a:solidFill>
                  <a:srgbClr val="2C4058"/>
                </a:solidFill>
                <a:latin typeface="微软雅黑" pitchFamily="34" charset="-122"/>
                <a:ea typeface="微软雅黑" pitchFamily="34" charset="-122"/>
              </a:rPr>
              <a:t>、合格投资者认定等已经上线需求在内。</a:t>
            </a:r>
            <a:endParaRPr lang="en-US" altLang="zh-CN" sz="1058" spc="85"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188" name="图片 187"/>
          <p:cNvPicPr>
            <a:picLocks noChangeAspect="1"/>
          </p:cNvPicPr>
          <p:nvPr/>
        </p:nvPicPr>
        <p:blipFill>
          <a:blip r:embed="rId3"/>
          <a:stretch>
            <a:fillRect/>
          </a:stretch>
        </p:blipFill>
        <p:spPr>
          <a:xfrm>
            <a:off x="1853104" y="2691297"/>
            <a:ext cx="1563610" cy="3248833"/>
          </a:xfrm>
          <a:prstGeom prst="rect">
            <a:avLst/>
          </a:prstGeom>
        </p:spPr>
      </p:pic>
      <p:sp>
        <p:nvSpPr>
          <p:cNvPr id="189" name="矩形 188"/>
          <p:cNvSpPr/>
          <p:nvPr/>
        </p:nvSpPr>
        <p:spPr>
          <a:xfrm>
            <a:off x="2046074" y="5115297"/>
            <a:ext cx="955004" cy="8248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4728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510537" y="1607177"/>
            <a:ext cx="11029950" cy="3905250"/>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项目日程计划</a:t>
            </a:r>
            <a:endParaRPr lang="zh-CN" altLang="en-US" sz="1200" b="1" dirty="0"/>
          </a:p>
        </p:txBody>
      </p:sp>
      <p:sp>
        <p:nvSpPr>
          <p:cNvPr id="4" name="TextBox 8"/>
          <p:cNvSpPr txBox="1"/>
          <p:nvPr/>
        </p:nvSpPr>
        <p:spPr>
          <a:xfrm>
            <a:off x="510537" y="1254323"/>
            <a:ext cx="9275810"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根据项目范围及目标，拆解任务形成</a:t>
            </a:r>
            <a:r>
              <a:rPr lang="en-US" altLang="zh-CN" sz="1693" dirty="0" smtClean="0">
                <a:solidFill>
                  <a:srgbClr val="2C4058"/>
                </a:solidFill>
                <a:latin typeface="微软雅黑" pitchFamily="34" charset="-122"/>
                <a:ea typeface="微软雅黑" pitchFamily="34" charset="-122"/>
              </a:rPr>
              <a:t>WBS</a:t>
            </a:r>
            <a:r>
              <a:rPr lang="zh-CN" altLang="en-US" sz="1693" dirty="0" smtClean="0">
                <a:solidFill>
                  <a:srgbClr val="2C4058"/>
                </a:solidFill>
                <a:latin typeface="微软雅黑" pitchFamily="34" charset="-122"/>
                <a:ea typeface="微软雅黑" pitchFamily="34" charset="-122"/>
              </a:rPr>
              <a:t>，而后评估工作量、分配资源形成项目日程计划</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821354" y="4549023"/>
            <a:ext cx="760675" cy="226136"/>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矩形 9"/>
          <p:cNvSpPr/>
          <p:nvPr/>
        </p:nvSpPr>
        <p:spPr>
          <a:xfrm>
            <a:off x="2821354" y="3039944"/>
            <a:ext cx="760675" cy="226136"/>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3327400311"/>
              </p:ext>
            </p:extLst>
          </p:nvPr>
        </p:nvGraphicFramePr>
        <p:xfrm>
          <a:off x="9613392" y="953674"/>
          <a:ext cx="914400" cy="771525"/>
        </p:xfrm>
        <a:graphic>
          <a:graphicData uri="http://schemas.openxmlformats.org/presentationml/2006/ole">
            <mc:AlternateContent xmlns:mc="http://schemas.openxmlformats.org/markup-compatibility/2006">
              <mc:Choice xmlns:v="urn:schemas-microsoft-com:vml" Requires="v">
                <p:oleObj spid="_x0000_s1090" name="Acrobat Document" showAsIcon="1" r:id="rId4" imgW="914400" imgH="771480" progId="AcroExch.Document.11">
                  <p:embed/>
                </p:oleObj>
              </mc:Choice>
              <mc:Fallback>
                <p:oleObj name="Acrobat Document" showAsIcon="1" r:id="rId4" imgW="914400" imgH="771480" progId="AcroExch.Document.11">
                  <p:embed/>
                  <p:pic>
                    <p:nvPicPr>
                      <p:cNvPr id="0" name=""/>
                      <p:cNvPicPr/>
                      <p:nvPr/>
                    </p:nvPicPr>
                    <p:blipFill>
                      <a:blip r:embed="rId5"/>
                      <a:stretch>
                        <a:fillRect/>
                      </a:stretch>
                    </p:blipFill>
                    <p:spPr>
                      <a:xfrm>
                        <a:off x="9613392" y="953674"/>
                        <a:ext cx="914400" cy="771525"/>
                      </a:xfrm>
                      <a:prstGeom prst="rect">
                        <a:avLst/>
                      </a:prstGeom>
                    </p:spPr>
                  </p:pic>
                </p:oleObj>
              </mc:Fallback>
            </mc:AlternateContent>
          </a:graphicData>
        </a:graphic>
      </p:graphicFrame>
      <p:pic>
        <p:nvPicPr>
          <p:cNvPr id="2" name="图片 1"/>
          <p:cNvPicPr>
            <a:picLocks noChangeAspect="1"/>
          </p:cNvPicPr>
          <p:nvPr/>
        </p:nvPicPr>
        <p:blipFill>
          <a:blip r:embed="rId6"/>
          <a:stretch>
            <a:fillRect/>
          </a:stretch>
        </p:blipFill>
        <p:spPr>
          <a:xfrm>
            <a:off x="2875281" y="4581966"/>
            <a:ext cx="652819" cy="175489"/>
          </a:xfrm>
          <a:prstGeom prst="rect">
            <a:avLst/>
          </a:prstGeom>
        </p:spPr>
      </p:pic>
    </p:spTree>
    <p:extLst>
      <p:ext uri="{BB962C8B-B14F-4D97-AF65-F5344CB8AC3E}">
        <p14:creationId xmlns:p14="http://schemas.microsoft.com/office/powerpoint/2010/main" val="23793339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en-US" altLang="zh-CN" sz="2000" b="1" dirty="0" smtClean="0">
                <a:solidFill>
                  <a:srgbClr val="002060"/>
                </a:solidFill>
                <a:latin typeface="微软雅黑" pitchFamily="34" charset="-122"/>
                <a:ea typeface="微软雅黑" pitchFamily="34" charset="-122"/>
                <a:cs typeface="+mj-cs"/>
              </a:rPr>
              <a:t>UX</a:t>
            </a:r>
            <a:r>
              <a:rPr lang="zh-CN" altLang="en-US" sz="2000" b="1" dirty="0" smtClean="0">
                <a:solidFill>
                  <a:srgbClr val="002060"/>
                </a:solidFill>
                <a:latin typeface="微软雅黑" pitchFamily="34" charset="-122"/>
                <a:ea typeface="微软雅黑" pitchFamily="34" charset="-122"/>
                <a:cs typeface="+mj-cs"/>
              </a:rPr>
              <a:t>设计</a:t>
            </a:r>
            <a:endParaRPr lang="zh-CN" altLang="en-US" sz="1200" b="1" dirty="0"/>
          </a:p>
        </p:txBody>
      </p:sp>
      <p:sp>
        <p:nvSpPr>
          <p:cNvPr id="4" name="TextBox 8"/>
          <p:cNvSpPr txBox="1"/>
          <p:nvPr/>
        </p:nvSpPr>
        <p:spPr>
          <a:xfrm>
            <a:off x="510537" y="1254323"/>
            <a:ext cx="7767831"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重新设计微信服务号整体色彩及视觉效果</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graphicFrame>
        <p:nvGraphicFramePr>
          <p:cNvPr id="14" name="对象 13"/>
          <p:cNvGraphicFramePr>
            <a:graphicFrameLocks noChangeAspect="1"/>
          </p:cNvGraphicFramePr>
          <p:nvPr>
            <p:extLst>
              <p:ext uri="{D42A27DB-BD31-4B8C-83A1-F6EECF244321}">
                <p14:modId xmlns:p14="http://schemas.microsoft.com/office/powerpoint/2010/main" val="3720110908"/>
              </p:ext>
            </p:extLst>
          </p:nvPr>
        </p:nvGraphicFramePr>
        <p:xfrm>
          <a:off x="597699" y="2568921"/>
          <a:ext cx="914400" cy="771525"/>
        </p:xfrm>
        <a:graphic>
          <a:graphicData uri="http://schemas.openxmlformats.org/presentationml/2006/ole">
            <mc:AlternateContent xmlns:mc="http://schemas.openxmlformats.org/markup-compatibility/2006">
              <mc:Choice xmlns:v="urn:schemas-microsoft-com:vml" Requires="v">
                <p:oleObj spid="_x0000_s5162" name="包装程序外壳对象" showAsIcon="1" r:id="rId3" imgW="914400" imgH="771480" progId="Package">
                  <p:embed/>
                </p:oleObj>
              </mc:Choice>
              <mc:Fallback>
                <p:oleObj name="包装程序外壳对象" showAsIcon="1" r:id="rId3" imgW="914400" imgH="771480" progId="Package">
                  <p:embed/>
                  <p:pic>
                    <p:nvPicPr>
                      <p:cNvPr id="0" name=""/>
                      <p:cNvPicPr/>
                      <p:nvPr/>
                    </p:nvPicPr>
                    <p:blipFill>
                      <a:blip r:embed="rId4"/>
                      <a:stretch>
                        <a:fillRect/>
                      </a:stretch>
                    </p:blipFill>
                    <p:spPr>
                      <a:xfrm>
                        <a:off x="597699" y="2568921"/>
                        <a:ext cx="914400" cy="771525"/>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520842570"/>
              </p:ext>
            </p:extLst>
          </p:nvPr>
        </p:nvGraphicFramePr>
        <p:xfrm>
          <a:off x="2276475" y="2568921"/>
          <a:ext cx="914400" cy="771525"/>
        </p:xfrm>
        <a:graphic>
          <a:graphicData uri="http://schemas.openxmlformats.org/presentationml/2006/ole">
            <mc:AlternateContent xmlns:mc="http://schemas.openxmlformats.org/markup-compatibility/2006">
              <mc:Choice xmlns:v="urn:schemas-microsoft-com:vml" Requires="v">
                <p:oleObj spid="_x0000_s5163" name="包装程序外壳对象" showAsIcon="1" r:id="rId5" imgW="914400" imgH="771480" progId="Package">
                  <p:embed/>
                </p:oleObj>
              </mc:Choice>
              <mc:Fallback>
                <p:oleObj name="包装程序外壳对象" showAsIcon="1" r:id="rId5" imgW="914400" imgH="771480" progId="Package">
                  <p:embed/>
                  <p:pic>
                    <p:nvPicPr>
                      <p:cNvPr id="0" name=""/>
                      <p:cNvPicPr/>
                      <p:nvPr/>
                    </p:nvPicPr>
                    <p:blipFill>
                      <a:blip r:embed="rId6"/>
                      <a:stretch>
                        <a:fillRect/>
                      </a:stretch>
                    </p:blipFill>
                    <p:spPr>
                      <a:xfrm>
                        <a:off x="2276475" y="2568921"/>
                        <a:ext cx="914400" cy="771525"/>
                      </a:xfrm>
                      <a:prstGeom prst="rect">
                        <a:avLst/>
                      </a:prstGeom>
                    </p:spPr>
                  </p:pic>
                </p:oleObj>
              </mc:Fallback>
            </mc:AlternateContent>
          </a:graphicData>
        </a:graphic>
      </p:graphicFrame>
      <p:pic>
        <p:nvPicPr>
          <p:cNvPr id="17" name="图片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55496" y="428617"/>
            <a:ext cx="2689497" cy="5823657"/>
          </a:xfrm>
          <a:prstGeom prst="rect">
            <a:avLst/>
          </a:prstGeom>
          <a:ln>
            <a:noFill/>
          </a:ln>
          <a:effectLst>
            <a:outerShdw blurRad="190500" algn="tl" rotWithShape="0">
              <a:srgbClr val="000000">
                <a:alpha val="70000"/>
              </a:srgbClr>
            </a:outerShdw>
          </a:effectLst>
        </p:spPr>
      </p:pic>
      <p:pic>
        <p:nvPicPr>
          <p:cNvPr id="18" name="图片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971861" y="428617"/>
            <a:ext cx="2689497" cy="582365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72162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en-US" altLang="zh-CN" sz="2000" b="1" dirty="0" smtClean="0">
                <a:solidFill>
                  <a:srgbClr val="002060"/>
                </a:solidFill>
                <a:latin typeface="微软雅黑" pitchFamily="34" charset="-122"/>
                <a:ea typeface="微软雅黑" pitchFamily="34" charset="-122"/>
                <a:cs typeface="+mj-cs"/>
              </a:rPr>
              <a:t>UX</a:t>
            </a:r>
            <a:r>
              <a:rPr lang="zh-CN" altLang="en-US" sz="2000" b="1" dirty="0" smtClean="0">
                <a:solidFill>
                  <a:srgbClr val="002060"/>
                </a:solidFill>
                <a:latin typeface="微软雅黑" pitchFamily="34" charset="-122"/>
                <a:ea typeface="微软雅黑" pitchFamily="34" charset="-122"/>
                <a:cs typeface="+mj-cs"/>
              </a:rPr>
              <a:t>设计</a:t>
            </a:r>
            <a:endParaRPr lang="zh-CN" altLang="en-US" sz="1200" b="1" dirty="0"/>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70329"/>
            <a:ext cx="5943656" cy="3944621"/>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0373" y="1370329"/>
            <a:ext cx="5951627" cy="3944621"/>
          </a:xfrm>
          <a:prstGeom prst="rect">
            <a:avLst/>
          </a:prstGeom>
        </p:spPr>
      </p:pic>
    </p:spTree>
    <p:extLst>
      <p:ext uri="{BB962C8B-B14F-4D97-AF65-F5344CB8AC3E}">
        <p14:creationId xmlns:p14="http://schemas.microsoft.com/office/powerpoint/2010/main" val="34884036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1950249" y="1652492"/>
            <a:ext cx="3774346" cy="4305307"/>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en-US" altLang="zh-CN" sz="2000" b="1" dirty="0" smtClean="0">
                <a:solidFill>
                  <a:srgbClr val="002060"/>
                </a:solidFill>
                <a:latin typeface="微软雅黑" pitchFamily="34" charset="-122"/>
                <a:ea typeface="微软雅黑" pitchFamily="34" charset="-122"/>
                <a:cs typeface="+mj-cs"/>
              </a:rPr>
              <a:t>UX</a:t>
            </a:r>
            <a:r>
              <a:rPr lang="zh-CN" altLang="en-US" sz="2000" b="1" dirty="0" smtClean="0">
                <a:solidFill>
                  <a:srgbClr val="002060"/>
                </a:solidFill>
                <a:latin typeface="微软雅黑" pitchFamily="34" charset="-122"/>
                <a:ea typeface="微软雅黑" pitchFamily="34" charset="-122"/>
                <a:cs typeface="+mj-cs"/>
              </a:rPr>
              <a:t>设计</a:t>
            </a:r>
            <a:endParaRPr lang="zh-CN" altLang="en-US" sz="1200" b="1" dirty="0"/>
          </a:p>
        </p:txBody>
      </p:sp>
      <p:sp>
        <p:nvSpPr>
          <p:cNvPr id="4" name="TextBox 8"/>
          <p:cNvSpPr txBox="1"/>
          <p:nvPr/>
        </p:nvSpPr>
        <p:spPr>
          <a:xfrm>
            <a:off x="510537" y="1254323"/>
            <a:ext cx="7767831"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对微信服务号用户体验进行优化设计</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graphicFrame>
        <p:nvGraphicFramePr>
          <p:cNvPr id="2" name="对象 1"/>
          <p:cNvGraphicFramePr>
            <a:graphicFrameLocks noChangeAspect="1"/>
          </p:cNvGraphicFramePr>
          <p:nvPr>
            <p:extLst>
              <p:ext uri="{D42A27DB-BD31-4B8C-83A1-F6EECF244321}">
                <p14:modId xmlns:p14="http://schemas.microsoft.com/office/powerpoint/2010/main" val="2435262134"/>
              </p:ext>
            </p:extLst>
          </p:nvPr>
        </p:nvGraphicFramePr>
        <p:xfrm>
          <a:off x="5724595" y="3207615"/>
          <a:ext cx="1830387" cy="400050"/>
        </p:xfrm>
        <a:graphic>
          <a:graphicData uri="http://schemas.openxmlformats.org/presentationml/2006/ole">
            <mc:AlternateContent xmlns:mc="http://schemas.openxmlformats.org/markup-compatibility/2006">
              <mc:Choice xmlns:v="urn:schemas-microsoft-com:vml" Requires="v">
                <p:oleObj spid="_x0000_s6165" name="包装程序外壳对象" showAsIcon="1" r:id="rId4" imgW="1830600" imgH="399600" progId="Package">
                  <p:embed/>
                </p:oleObj>
              </mc:Choice>
              <mc:Fallback>
                <p:oleObj name="包装程序外壳对象" showAsIcon="1" r:id="rId4" imgW="1830600" imgH="399600" progId="Package">
                  <p:embed/>
                  <p:pic>
                    <p:nvPicPr>
                      <p:cNvPr id="0" name=""/>
                      <p:cNvPicPr/>
                      <p:nvPr/>
                    </p:nvPicPr>
                    <p:blipFill>
                      <a:blip r:embed="rId5"/>
                      <a:stretch>
                        <a:fillRect/>
                      </a:stretch>
                    </p:blipFill>
                    <p:spPr>
                      <a:xfrm>
                        <a:off x="5724595" y="3207615"/>
                        <a:ext cx="1830387" cy="400050"/>
                      </a:xfrm>
                      <a:prstGeom prst="rect">
                        <a:avLst/>
                      </a:prstGeom>
                    </p:spPr>
                  </p:pic>
                </p:oleObj>
              </mc:Fallback>
            </mc:AlternateContent>
          </a:graphicData>
        </a:graphic>
      </p:graphicFrame>
      <p:sp>
        <p:nvSpPr>
          <p:cNvPr id="5" name="文本框 4"/>
          <p:cNvSpPr txBox="1"/>
          <p:nvPr/>
        </p:nvSpPr>
        <p:spPr>
          <a:xfrm>
            <a:off x="5905500" y="1430750"/>
            <a:ext cx="5943600" cy="1384995"/>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smtClean="0">
                <a:latin typeface="微软雅黑 Light" panose="020B0502040204020203" pitchFamily="34" charset="-122"/>
                <a:ea typeface="微软雅黑 Light" panose="020B0502040204020203" pitchFamily="34" charset="-122"/>
              </a:rPr>
              <a:t>首页重新设计，给人耳目一新的体验；</a:t>
            </a:r>
            <a:endParaRPr lang="en-US" altLang="zh-CN" sz="1400" dirty="0" smtClean="0">
              <a:latin typeface="微软雅黑 Light" panose="020B0502040204020203" pitchFamily="34" charset="-122"/>
              <a:ea typeface="微软雅黑 Light" panose="020B0502040204020203" pitchFamily="34" charset="-122"/>
            </a:endParaRPr>
          </a:p>
          <a:p>
            <a:pPr marL="285750" indent="-285750">
              <a:buFont typeface="Arial" panose="020B0604020202020204" pitchFamily="34" charset="0"/>
              <a:buChar char="•"/>
            </a:pPr>
            <a:r>
              <a:rPr lang="zh-CN" altLang="en-US" sz="1400" dirty="0" smtClean="0">
                <a:latin typeface="微软雅黑 Light" panose="020B0502040204020203" pitchFamily="34" charset="-122"/>
                <a:ea typeface="微软雅黑 Light" panose="020B0502040204020203" pitchFamily="34" charset="-122"/>
              </a:rPr>
              <a:t>产品分类重新设计；</a:t>
            </a:r>
            <a:endParaRPr lang="en-US" altLang="zh-CN" sz="1400" dirty="0" smtClean="0">
              <a:latin typeface="微软雅黑 Light" panose="020B0502040204020203" pitchFamily="34" charset="-122"/>
              <a:ea typeface="微软雅黑 Light" panose="020B0502040204020203" pitchFamily="34" charset="-122"/>
            </a:endParaRPr>
          </a:p>
          <a:p>
            <a:pPr marL="285750" indent="-285750">
              <a:buFont typeface="Arial" panose="020B0604020202020204" pitchFamily="34" charset="0"/>
              <a:buChar char="•"/>
            </a:pPr>
            <a:r>
              <a:rPr lang="zh-CN" altLang="en-US" sz="1400" dirty="0" smtClean="0">
                <a:latin typeface="微软雅黑 Light" panose="020B0502040204020203" pitchFamily="34" charset="-122"/>
                <a:ea typeface="微软雅黑 Light" panose="020B0502040204020203" pitchFamily="34" charset="-122"/>
              </a:rPr>
              <a:t>从注册登录开始，整体交易流程及环节之间的衔接，重新设计；</a:t>
            </a:r>
            <a:endParaRPr lang="en-US" altLang="zh-CN" sz="1400" dirty="0" smtClean="0">
              <a:latin typeface="微软雅黑 Light" panose="020B0502040204020203" pitchFamily="34" charset="-122"/>
              <a:ea typeface="微软雅黑 Light" panose="020B0502040204020203" pitchFamily="34" charset="-122"/>
            </a:endParaRPr>
          </a:p>
          <a:p>
            <a:pPr marL="285750" indent="-285750">
              <a:buFont typeface="Arial" panose="020B0604020202020204" pitchFamily="34" charset="0"/>
              <a:buChar char="•"/>
            </a:pPr>
            <a:r>
              <a:rPr lang="zh-CN" altLang="en-US" sz="1400" dirty="0" smtClean="0">
                <a:latin typeface="微软雅黑 Light" panose="020B0502040204020203" pitchFamily="34" charset="-122"/>
                <a:ea typeface="微软雅黑 Light" panose="020B0502040204020203" pitchFamily="34" charset="-122"/>
              </a:rPr>
              <a:t>增加客户持仓，围绕持仓的产品进行申赎操作；订单功能回归本源；</a:t>
            </a:r>
            <a:endParaRPr lang="en-US" altLang="zh-CN" sz="1400" dirty="0" smtClean="0">
              <a:latin typeface="微软雅黑 Light" panose="020B0502040204020203" pitchFamily="34" charset="-122"/>
              <a:ea typeface="微软雅黑 Light" panose="020B0502040204020203" pitchFamily="34" charset="-122"/>
            </a:endParaRPr>
          </a:p>
          <a:p>
            <a:pPr marL="285750" indent="-285750">
              <a:buFont typeface="Arial" panose="020B0604020202020204" pitchFamily="34" charset="0"/>
              <a:buChar char="•"/>
            </a:pPr>
            <a:r>
              <a:rPr lang="zh-CN" altLang="en-US" sz="1400" dirty="0" smtClean="0">
                <a:latin typeface="微软雅黑 Light" panose="020B0502040204020203" pitchFamily="34" charset="-122"/>
                <a:ea typeface="微软雅黑 Light" panose="020B0502040204020203" pitchFamily="34" charset="-122"/>
              </a:rPr>
              <a:t>大量的细节优化。</a:t>
            </a:r>
            <a:endParaRPr lang="en-US" altLang="zh-CN" sz="1400" dirty="0" smtClean="0">
              <a:latin typeface="微软雅黑 Light" panose="020B0502040204020203" pitchFamily="34" charset="-122"/>
              <a:ea typeface="微软雅黑 Light" panose="020B0502040204020203" pitchFamily="34" charset="-122"/>
            </a:endParaRPr>
          </a:p>
          <a:p>
            <a:pPr marL="285750" indent="-285750">
              <a:buFont typeface="Arial" panose="020B0604020202020204" pitchFamily="34" charset="0"/>
              <a:buChar char="•"/>
            </a:pPr>
            <a:endParaRPr lang="zh-CN" altLang="en-US" sz="14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7100440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a:solidFill>
                  <a:srgbClr val="002060"/>
                </a:solidFill>
                <a:latin typeface="微软雅黑" pitchFamily="34" charset="-122"/>
                <a:ea typeface="微软雅黑" pitchFamily="34" charset="-122"/>
                <a:cs typeface="+mj-cs"/>
              </a:rPr>
              <a:t>系统</a:t>
            </a:r>
            <a:r>
              <a:rPr lang="zh-CN" altLang="en-US" sz="2000" b="1" dirty="0" smtClean="0">
                <a:solidFill>
                  <a:srgbClr val="002060"/>
                </a:solidFill>
                <a:latin typeface="微软雅黑" pitchFamily="34" charset="-122"/>
                <a:ea typeface="微软雅黑" pitchFamily="34" charset="-122"/>
                <a:cs typeface="+mj-cs"/>
              </a:rPr>
              <a:t>架构设计</a:t>
            </a:r>
            <a:r>
              <a:rPr lang="en-US" altLang="zh-CN" sz="2000" b="1" dirty="0" smtClean="0">
                <a:solidFill>
                  <a:srgbClr val="002060"/>
                </a:solidFill>
                <a:latin typeface="微软雅黑" pitchFamily="34" charset="-122"/>
                <a:ea typeface="微软雅黑" pitchFamily="34" charset="-122"/>
                <a:cs typeface="+mj-cs"/>
              </a:rPr>
              <a:t>——</a:t>
            </a:r>
            <a:r>
              <a:rPr lang="zh-CN" altLang="en-US" sz="2000" b="1" dirty="0" smtClean="0">
                <a:solidFill>
                  <a:srgbClr val="002060"/>
                </a:solidFill>
                <a:latin typeface="微软雅黑" pitchFamily="34" charset="-122"/>
                <a:ea typeface="微软雅黑" pitchFamily="34" charset="-122"/>
                <a:cs typeface="+mj-cs"/>
              </a:rPr>
              <a:t>前端</a:t>
            </a:r>
            <a:r>
              <a:rPr lang="en-US" altLang="zh-CN" sz="2000" b="1" dirty="0" smtClean="0">
                <a:solidFill>
                  <a:srgbClr val="002060"/>
                </a:solidFill>
                <a:latin typeface="微软雅黑" pitchFamily="34" charset="-122"/>
                <a:ea typeface="微软雅黑" pitchFamily="34" charset="-122"/>
                <a:cs typeface="+mj-cs"/>
              </a:rPr>
              <a:t>MPA</a:t>
            </a:r>
            <a:r>
              <a:rPr lang="zh-CN" altLang="en-US" sz="2000" b="1" dirty="0" smtClean="0">
                <a:solidFill>
                  <a:srgbClr val="002060"/>
                </a:solidFill>
                <a:latin typeface="微软雅黑" pitchFamily="34" charset="-122"/>
                <a:ea typeface="微软雅黑" pitchFamily="34" charset="-122"/>
                <a:cs typeface="+mj-cs"/>
              </a:rPr>
              <a:t>架构</a:t>
            </a:r>
            <a:endParaRPr lang="zh-CN" altLang="en-US" sz="1200" b="1" dirty="0"/>
          </a:p>
        </p:txBody>
      </p:sp>
      <p:sp>
        <p:nvSpPr>
          <p:cNvPr id="4" name="TextBox 8"/>
          <p:cNvSpPr txBox="1"/>
          <p:nvPr/>
        </p:nvSpPr>
        <p:spPr>
          <a:xfrm>
            <a:off x="510537" y="1254323"/>
            <a:ext cx="7767831"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前端及后端系统架构设计是本次优化项目重点之一</a:t>
            </a:r>
            <a:endParaRPr lang="en-US" altLang="zh-CN" sz="1693" dirty="0">
              <a:solidFill>
                <a:srgbClr val="2C4058"/>
              </a:solidFill>
              <a:latin typeface="微软雅黑" pitchFamily="34" charset="-122"/>
              <a:ea typeface="微软雅黑" pitchFamily="34" charset="-122"/>
            </a:endParaRPr>
          </a:p>
        </p:txBody>
      </p:sp>
      <p:sp>
        <p:nvSpPr>
          <p:cNvPr id="5" name="TextBox 8"/>
          <p:cNvSpPr txBox="1"/>
          <p:nvPr/>
        </p:nvSpPr>
        <p:spPr>
          <a:xfrm>
            <a:off x="510537" y="1795294"/>
            <a:ext cx="7676391" cy="502702"/>
          </a:xfrm>
          <a:prstGeom prst="rect">
            <a:avLst/>
          </a:prstGeom>
          <a:noFill/>
        </p:spPr>
        <p:txBody>
          <a:bodyPr wrap="square" rtlCol="0">
            <a:spAutoFit/>
          </a:bodyPr>
          <a:lstStyle/>
          <a:p>
            <a:pPr defTabSz="914216">
              <a:lnSpc>
                <a:spcPts val="1587"/>
              </a:lnSpc>
            </a:pPr>
            <a:r>
              <a:rPr lang="zh-CN" altLang="en-US" sz="1058" spc="85" dirty="0" smtClean="0">
                <a:solidFill>
                  <a:srgbClr val="2C4058"/>
                </a:solidFill>
                <a:latin typeface="微软雅黑" pitchFamily="34" charset="-122"/>
                <a:ea typeface="微软雅黑" pitchFamily="34" charset="-122"/>
              </a:rPr>
              <a:t>本项目采用前后端分离架构，相比原有电商系统，进行了较大规模的改造。从架构，到业务逻辑实现，除数据库中开发的存储过程以外，都进行了重新开发。</a:t>
            </a:r>
            <a:endParaRPr lang="en-US" altLang="zh-CN" sz="1058" spc="85"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99" y="2428088"/>
            <a:ext cx="6334125" cy="3105150"/>
          </a:xfrm>
          <a:prstGeom prst="rect">
            <a:avLst/>
          </a:prstGeom>
        </p:spPr>
      </p:pic>
    </p:spTree>
    <p:extLst>
      <p:ext uri="{BB962C8B-B14F-4D97-AF65-F5344CB8AC3E}">
        <p14:creationId xmlns:p14="http://schemas.microsoft.com/office/powerpoint/2010/main" val="2348598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597699" y="1489191"/>
            <a:ext cx="6770797" cy="4221248"/>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a:solidFill>
                  <a:srgbClr val="002060"/>
                </a:solidFill>
                <a:latin typeface="微软雅黑" pitchFamily="34" charset="-122"/>
                <a:ea typeface="微软雅黑" pitchFamily="34" charset="-122"/>
                <a:cs typeface="+mj-cs"/>
              </a:rPr>
              <a:t>系统</a:t>
            </a:r>
            <a:r>
              <a:rPr lang="zh-CN" altLang="en-US" sz="2000" b="1" dirty="0" smtClean="0">
                <a:solidFill>
                  <a:srgbClr val="002060"/>
                </a:solidFill>
                <a:latin typeface="微软雅黑" pitchFamily="34" charset="-122"/>
                <a:ea typeface="微软雅黑" pitchFamily="34" charset="-122"/>
                <a:cs typeface="+mj-cs"/>
              </a:rPr>
              <a:t>架构设计</a:t>
            </a:r>
            <a:r>
              <a:rPr lang="en-US" altLang="zh-CN" sz="2000" b="1" dirty="0" smtClean="0">
                <a:solidFill>
                  <a:srgbClr val="002060"/>
                </a:solidFill>
                <a:latin typeface="微软雅黑" pitchFamily="34" charset="-122"/>
                <a:ea typeface="微软雅黑" pitchFamily="34" charset="-122"/>
                <a:cs typeface="+mj-cs"/>
              </a:rPr>
              <a:t>——</a:t>
            </a:r>
            <a:r>
              <a:rPr lang="zh-CN" altLang="en-US" sz="2000" b="1" dirty="0" smtClean="0">
                <a:solidFill>
                  <a:srgbClr val="002060"/>
                </a:solidFill>
                <a:latin typeface="微软雅黑" pitchFamily="34" charset="-122"/>
                <a:ea typeface="微软雅黑" pitchFamily="34" charset="-122"/>
                <a:cs typeface="+mj-cs"/>
              </a:rPr>
              <a:t>后端接口平台架构</a:t>
            </a:r>
            <a:endParaRPr lang="zh-CN" altLang="en-US" sz="1200" b="1" dirty="0"/>
          </a:p>
        </p:txBody>
      </p:sp>
      <p:sp>
        <p:nvSpPr>
          <p:cNvPr id="4" name="TextBox 8"/>
          <p:cNvSpPr txBox="1"/>
          <p:nvPr/>
        </p:nvSpPr>
        <p:spPr>
          <a:xfrm>
            <a:off x="510537" y="1254323"/>
            <a:ext cx="7767831" cy="352854"/>
          </a:xfrm>
          <a:prstGeom prst="rect">
            <a:avLst/>
          </a:prstGeom>
          <a:noFill/>
        </p:spPr>
        <p:txBody>
          <a:bodyPr wrap="square" rtlCol="0">
            <a:spAutoFit/>
          </a:bodyPr>
          <a:lstStyle/>
          <a:p>
            <a:pPr defTabSz="914216"/>
            <a:r>
              <a:rPr lang="zh-CN" altLang="en-US" sz="1693" dirty="0" smtClean="0">
                <a:solidFill>
                  <a:srgbClr val="2C4058"/>
                </a:solidFill>
                <a:latin typeface="微软雅黑" pitchFamily="34" charset="-122"/>
                <a:ea typeface="微软雅黑" pitchFamily="34" charset="-122"/>
              </a:rPr>
              <a:t>前端及后端系统架构设计是本次优化项目重点之一</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sp>
        <p:nvSpPr>
          <p:cNvPr id="5" name="TextBox 8"/>
          <p:cNvSpPr txBox="1"/>
          <p:nvPr/>
        </p:nvSpPr>
        <p:spPr>
          <a:xfrm>
            <a:off x="7578427" y="1863790"/>
            <a:ext cx="4177328" cy="707886"/>
          </a:xfrm>
          <a:prstGeom prst="rect">
            <a:avLst/>
          </a:prstGeom>
          <a:noFill/>
        </p:spPr>
        <p:txBody>
          <a:bodyPr wrap="square" rtlCol="0">
            <a:spAutoFit/>
          </a:bodyPr>
          <a:lstStyle/>
          <a:p>
            <a:pPr defTabSz="914216">
              <a:lnSpc>
                <a:spcPts val="1587"/>
              </a:lnSpc>
            </a:pPr>
            <a:r>
              <a:rPr lang="zh-CN" altLang="en-US" sz="1058" spc="85" dirty="0" smtClean="0">
                <a:solidFill>
                  <a:srgbClr val="2C4058"/>
                </a:solidFill>
                <a:latin typeface="微软雅黑" pitchFamily="34" charset="-122"/>
                <a:ea typeface="微软雅黑" pitchFamily="34" charset="-122"/>
              </a:rPr>
              <a:t>本项目采用前后端分离架构，相比原有电商系统，进行了较大规模的改造。从架构，到业务逻辑实现，除数据库中开发的存储过程以外，都进行了重新开发。</a:t>
            </a:r>
            <a:endParaRPr lang="en-US" altLang="zh-CN" sz="1058" spc="85" dirty="0">
              <a:solidFill>
                <a:srgbClr val="2C4058"/>
              </a:solidFill>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51558995"/>
              </p:ext>
            </p:extLst>
          </p:nvPr>
        </p:nvGraphicFramePr>
        <p:xfrm>
          <a:off x="7748016" y="2828290"/>
          <a:ext cx="914400" cy="771525"/>
        </p:xfrm>
        <a:graphic>
          <a:graphicData uri="http://schemas.openxmlformats.org/presentationml/2006/ole">
            <mc:AlternateContent xmlns:mc="http://schemas.openxmlformats.org/markup-compatibility/2006">
              <mc:Choice xmlns:v="urn:schemas-microsoft-com:vml" Requires="v">
                <p:oleObj spid="_x0000_s2102" name="文档" showAsIcon="1" r:id="rId5" imgW="914400" imgH="771480" progId="Word.Document.12">
                  <p:embed/>
                </p:oleObj>
              </mc:Choice>
              <mc:Fallback>
                <p:oleObj name="文档" showAsIcon="1" r:id="rId5" imgW="914400" imgH="771480" progId="Word.Document.12">
                  <p:embed/>
                  <p:pic>
                    <p:nvPicPr>
                      <p:cNvPr id="0" name=""/>
                      <p:cNvPicPr/>
                      <p:nvPr/>
                    </p:nvPicPr>
                    <p:blipFill>
                      <a:blip r:embed="rId6"/>
                      <a:stretch>
                        <a:fillRect/>
                      </a:stretch>
                    </p:blipFill>
                    <p:spPr>
                      <a:xfrm>
                        <a:off x="7748016" y="2828290"/>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3442913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开发过程管理</a:t>
            </a:r>
            <a:endParaRPr lang="zh-CN" altLang="en-US" sz="1200" b="1" dirty="0"/>
          </a:p>
        </p:txBody>
      </p:sp>
      <p:sp>
        <p:nvSpPr>
          <p:cNvPr id="4" name="TextBox 8"/>
          <p:cNvSpPr txBox="1"/>
          <p:nvPr/>
        </p:nvSpPr>
        <p:spPr>
          <a:xfrm>
            <a:off x="510537" y="1254323"/>
            <a:ext cx="2701763" cy="352854"/>
          </a:xfrm>
          <a:prstGeom prst="rect">
            <a:avLst/>
          </a:prstGeom>
          <a:noFill/>
        </p:spPr>
        <p:txBody>
          <a:bodyPr wrap="square" rtlCol="0">
            <a:spAutoFit/>
          </a:bodyPr>
          <a:lstStyle/>
          <a:p>
            <a:pPr defTabSz="914216"/>
            <a:r>
              <a:rPr lang="en-US" altLang="zh-CN" sz="1693" dirty="0" smtClean="0">
                <a:solidFill>
                  <a:srgbClr val="2C4058"/>
                </a:solidFill>
                <a:latin typeface="微软雅黑" pitchFamily="34" charset="-122"/>
                <a:ea typeface="微软雅黑" pitchFamily="34" charset="-122"/>
              </a:rPr>
              <a:t>SVN Branch Model</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639" y="1725199"/>
            <a:ext cx="5953044" cy="4150804"/>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4047775564"/>
              </p:ext>
            </p:extLst>
          </p:nvPr>
        </p:nvGraphicFramePr>
        <p:xfrm>
          <a:off x="4165600" y="3714750"/>
          <a:ext cx="914400" cy="771525"/>
        </p:xfrm>
        <a:graphic>
          <a:graphicData uri="http://schemas.openxmlformats.org/presentationml/2006/ole">
            <mc:AlternateContent xmlns:mc="http://schemas.openxmlformats.org/markup-compatibility/2006">
              <mc:Choice xmlns:v="urn:schemas-microsoft-com:vml" Requires="v">
                <p:oleObj spid="_x0000_s3124" name="文档" showAsIcon="1" r:id="rId5" imgW="914400" imgH="771480" progId="Word.Document.12">
                  <p:embed/>
                </p:oleObj>
              </mc:Choice>
              <mc:Fallback>
                <p:oleObj name="文档" showAsIcon="1" r:id="rId5" imgW="914400" imgH="771480" progId="Word.Document.12">
                  <p:embed/>
                  <p:pic>
                    <p:nvPicPr>
                      <p:cNvPr id="0" name=""/>
                      <p:cNvPicPr/>
                      <p:nvPr/>
                    </p:nvPicPr>
                    <p:blipFill>
                      <a:blip r:embed="rId6"/>
                      <a:stretch>
                        <a:fillRect/>
                      </a:stretch>
                    </p:blipFill>
                    <p:spPr>
                      <a:xfrm>
                        <a:off x="4165600" y="3714750"/>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222352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2"/>
          <a:stretch>
            <a:fillRect/>
          </a:stretch>
        </p:blipFill>
        <p:spPr>
          <a:xfrm>
            <a:off x="6156960" y="1751208"/>
            <a:ext cx="5681478" cy="3835871"/>
          </a:xfrm>
          <a:prstGeom prst="rect">
            <a:avLst/>
          </a:prstGeom>
        </p:spPr>
      </p:pic>
      <p:sp>
        <p:nvSpPr>
          <p:cNvPr id="3" name="TextBox 3"/>
          <p:cNvSpPr txBox="1"/>
          <p:nvPr/>
        </p:nvSpPr>
        <p:spPr>
          <a:xfrm>
            <a:off x="290798" y="186186"/>
            <a:ext cx="5061114" cy="400110"/>
          </a:xfrm>
          <a:prstGeom prst="rect">
            <a:avLst/>
          </a:prstGeom>
          <a:noFill/>
        </p:spPr>
        <p:txBody>
          <a:bodyPr wrap="square" rtlCol="0">
            <a:spAutoFit/>
          </a:bodyPr>
          <a:lstStyle/>
          <a:p>
            <a:r>
              <a:rPr lang="zh-CN" altLang="en-US" sz="2000" b="1" dirty="0" smtClean="0">
                <a:solidFill>
                  <a:srgbClr val="002060"/>
                </a:solidFill>
                <a:latin typeface="微软雅黑" pitchFamily="34" charset="-122"/>
                <a:ea typeface="微软雅黑" pitchFamily="34" charset="-122"/>
                <a:cs typeface="+mj-cs"/>
              </a:rPr>
              <a:t>开发过程管理</a:t>
            </a:r>
            <a:endParaRPr lang="zh-CN" altLang="en-US" sz="1200" b="1" dirty="0"/>
          </a:p>
        </p:txBody>
      </p:sp>
      <p:sp>
        <p:nvSpPr>
          <p:cNvPr id="4" name="TextBox 8"/>
          <p:cNvSpPr txBox="1"/>
          <p:nvPr/>
        </p:nvSpPr>
        <p:spPr>
          <a:xfrm>
            <a:off x="510537" y="1254323"/>
            <a:ext cx="8712711" cy="352854"/>
          </a:xfrm>
          <a:prstGeom prst="rect">
            <a:avLst/>
          </a:prstGeom>
          <a:noFill/>
        </p:spPr>
        <p:txBody>
          <a:bodyPr wrap="square" rtlCol="0">
            <a:spAutoFit/>
          </a:bodyPr>
          <a:lstStyle/>
          <a:p>
            <a:pPr defTabSz="914216"/>
            <a:r>
              <a:rPr lang="en-US" altLang="zh-CN" sz="1693" dirty="0" smtClean="0">
                <a:solidFill>
                  <a:srgbClr val="2C4058"/>
                </a:solidFill>
                <a:latin typeface="微软雅黑" pitchFamily="34" charset="-122"/>
                <a:ea typeface="微软雅黑" pitchFamily="34" charset="-122"/>
              </a:rPr>
              <a:t>Continuous Inspect ——</a:t>
            </a:r>
            <a:r>
              <a:rPr lang="zh-CN" altLang="en-US" sz="1693" dirty="0" smtClean="0">
                <a:solidFill>
                  <a:srgbClr val="2C4058"/>
                </a:solidFill>
                <a:latin typeface="微软雅黑" pitchFamily="34" charset="-122"/>
                <a:ea typeface="微软雅黑" pitchFamily="34" charset="-122"/>
              </a:rPr>
              <a:t>集成自动化测试报告、静态代码检查以及团队协作功能</a:t>
            </a:r>
            <a:endParaRPr lang="en-US" altLang="zh-CN" sz="1693" dirty="0">
              <a:solidFill>
                <a:srgbClr val="2C4058"/>
              </a:solidFill>
              <a:latin typeface="微软雅黑" pitchFamily="34" charset="-122"/>
              <a:ea typeface="微软雅黑" pitchFamily="34" charset="-122"/>
            </a:endParaRPr>
          </a:p>
        </p:txBody>
      </p:sp>
      <p:cxnSp>
        <p:nvCxnSpPr>
          <p:cNvPr id="6" name="直线连接符 7"/>
          <p:cNvCxnSpPr/>
          <p:nvPr/>
        </p:nvCxnSpPr>
        <p:spPr>
          <a:xfrm>
            <a:off x="597699" y="1725199"/>
            <a:ext cx="385940" cy="0"/>
          </a:xfrm>
          <a:prstGeom prst="line">
            <a:avLst/>
          </a:prstGeom>
          <a:ln w="9525">
            <a:solidFill>
              <a:srgbClr val="DF6012"/>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a:stretch>
            <a:fillRect/>
          </a:stretch>
        </p:blipFill>
        <p:spPr>
          <a:xfrm>
            <a:off x="510537" y="2045110"/>
            <a:ext cx="4911833" cy="3541969"/>
          </a:xfrm>
          <a:prstGeom prst="rect">
            <a:avLst/>
          </a:prstGeom>
        </p:spPr>
      </p:pic>
      <p:sp>
        <p:nvSpPr>
          <p:cNvPr id="14" name="右箭头 13"/>
          <p:cNvSpPr/>
          <p:nvPr/>
        </p:nvSpPr>
        <p:spPr>
          <a:xfrm rot="10800000">
            <a:off x="5730240" y="4557953"/>
            <a:ext cx="682752" cy="2255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stretch>
            <a:fillRect/>
          </a:stretch>
        </p:blipFill>
        <p:spPr>
          <a:xfrm>
            <a:off x="6071615" y="1819788"/>
            <a:ext cx="5681478" cy="3835871"/>
          </a:xfrm>
          <a:prstGeom prst="rect">
            <a:avLst/>
          </a:prstGeom>
        </p:spPr>
      </p:pic>
    </p:spTree>
    <p:extLst>
      <p:ext uri="{BB962C8B-B14F-4D97-AF65-F5344CB8AC3E}">
        <p14:creationId xmlns:p14="http://schemas.microsoft.com/office/powerpoint/2010/main" val="14237866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35" y="6612631"/>
            <a:ext cx="12190133" cy="260608"/>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66"/>
          </a:p>
        </p:txBody>
      </p:sp>
    </p:spTree>
    <p:extLst>
      <p:ext uri="{BB962C8B-B14F-4D97-AF65-F5344CB8AC3E}">
        <p14:creationId xmlns:p14="http://schemas.microsoft.com/office/powerpoint/2010/main" val="1612680904"/>
      </p:ext>
    </p:extLst>
  </p:cSld>
  <p:clrMapOvr>
    <a:masterClrMapping/>
  </p:clrMapOvr>
  <p:timing>
    <p:tnLst>
      <p:par>
        <p:cTn id="1" dur="indefinite" restart="never" nodeType="tmRoot"/>
      </p:par>
    </p:tnLst>
  </p:timing>
</p:sld>
</file>

<file path=ppt/theme/theme1.xml><?xml version="1.0" encoding="utf-8"?>
<a:theme xmlns:a="http://schemas.openxmlformats.org/drawingml/2006/main" name="招商财富标准母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3423</TotalTime>
  <Words>445</Words>
  <Application>Microsoft Office PowerPoint</Application>
  <PresentationFormat>宽屏</PresentationFormat>
  <Paragraphs>41</Paragraphs>
  <Slides>12</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12</vt:i4>
      </vt:variant>
    </vt:vector>
  </HeadingPairs>
  <TitlesOfParts>
    <vt:vector size="25" baseType="lpstr">
      <vt:lpstr>宋体</vt:lpstr>
      <vt:lpstr>Microsoft YaHei</vt:lpstr>
      <vt:lpstr>Microsoft YaHei</vt:lpstr>
      <vt:lpstr>微软雅黑 Light</vt:lpstr>
      <vt:lpstr>Arial</vt:lpstr>
      <vt:lpstr>Calibri</vt:lpstr>
      <vt:lpstr>Impact</vt:lpstr>
      <vt:lpstr>Segoe UI</vt:lpstr>
      <vt:lpstr>Wingdings</vt:lpstr>
      <vt:lpstr>招商财富标准母版</vt:lpstr>
      <vt:lpstr>Acrobat Document</vt:lpstr>
      <vt:lpstr>包装程序外壳对象</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林琳</dc:creator>
  <cp:lastModifiedBy>马晓强</cp:lastModifiedBy>
  <cp:revision>117</cp:revision>
  <dcterms:created xsi:type="dcterms:W3CDTF">2018-12-03T02:49:31Z</dcterms:created>
  <dcterms:modified xsi:type="dcterms:W3CDTF">2019-04-25T06:59:43Z</dcterms:modified>
</cp:coreProperties>
</file>