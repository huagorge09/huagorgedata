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5" r:id="rId3"/>
    <p:sldId id="258" r:id="rId4"/>
    <p:sldId id="270" r:id="rId5"/>
    <p:sldId id="274" r:id="rId6"/>
    <p:sldId id="267" r:id="rId7"/>
    <p:sldId id="271" r:id="rId8"/>
    <p:sldId id="268" r:id="rId9"/>
    <p:sldId id="272" r:id="rId10"/>
    <p:sldId id="264"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6111"/>
    <a:srgbClr val="DF60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99" autoAdjust="0"/>
    <p:restoredTop sz="94660"/>
  </p:normalViewPr>
  <p:slideViewPr>
    <p:cSldViewPr snapToGrid="0">
      <p:cViewPr varScale="1">
        <p:scale>
          <a:sx n="87" d="100"/>
          <a:sy n="87" d="100"/>
        </p:scale>
        <p:origin x="22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9490F-C7E5-4505-AB48-2B3FC87F12D8}" type="datetimeFigureOut">
              <a:rPr lang="zh-CN" altLang="en-US" smtClean="0"/>
              <a:t>2019/4/22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5FFA93-A058-4333-ADB9-2FE39BC36F3E}" type="slidenum">
              <a:rPr lang="zh-CN" altLang="en-US" smtClean="0"/>
              <a:t>‹#›</a:t>
            </a:fld>
            <a:endParaRPr lang="zh-CN" altLang="en-US"/>
          </a:p>
        </p:txBody>
      </p:sp>
    </p:spTree>
    <p:extLst>
      <p:ext uri="{BB962C8B-B14F-4D97-AF65-F5344CB8AC3E}">
        <p14:creationId xmlns:p14="http://schemas.microsoft.com/office/powerpoint/2010/main" val="2270322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idx="10"/>
          </p:nvPr>
        </p:nvSpPr>
        <p:spPr/>
        <p:txBody>
          <a:bodyPr/>
          <a:lstStyle/>
          <a:p>
            <a:r>
              <a:rPr lang="en-US" smtClean="0"/>
              <a:t>TechEd 2013</a:t>
            </a:r>
            <a:endParaRPr lang="en-US" dirty="0"/>
          </a:p>
        </p:txBody>
      </p:sp>
      <p:sp>
        <p:nvSpPr>
          <p:cNvPr id="5" name="页脚占位符 4"/>
          <p:cNvSpPr>
            <a:spLocks noGrp="1"/>
          </p:cNvSpPr>
          <p:nvPr>
            <p:ph type="ftr" sz="quarter" idx="11"/>
          </p:nvPr>
        </p:nvSpPr>
        <p:spPr/>
        <p:txBody>
          <a:bodyPr/>
          <a:lstStyle/>
          <a:p>
            <a:pPr defTabSz="91333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日期占位符 5"/>
          <p:cNvSpPr>
            <a:spLocks noGrp="1"/>
          </p:cNvSpPr>
          <p:nvPr>
            <p:ph type="dt" idx="12"/>
          </p:nvPr>
        </p:nvSpPr>
        <p:spPr/>
        <p:txBody>
          <a:bodyPr/>
          <a:lstStyle/>
          <a:p>
            <a:fld id="{2DFDA5C7-BBAE-481E-8BF7-731156A2E2C1}" type="datetime8">
              <a:rPr lang="en-US" smtClean="0"/>
              <a:t>4/22/2019 1:45 PM</a:t>
            </a:fld>
            <a:endParaRPr lang="en-US" dirty="0"/>
          </a:p>
        </p:txBody>
      </p:sp>
      <p:sp>
        <p:nvSpPr>
          <p:cNvPr id="7" name="灯片编号占位符 6"/>
          <p:cNvSpPr>
            <a:spLocks noGrp="1"/>
          </p:cNvSpPr>
          <p:nvPr>
            <p:ph type="sldNum" sz="quarter" idx="13"/>
          </p:nvPr>
        </p:nvSpPr>
        <p:spPr/>
        <p:txBody>
          <a:bodyPr/>
          <a:lstStyle/>
          <a:p>
            <a:fld id="{B4008EB6-D09E-4580-8CD6-DDB14511944F}" type="slidenum">
              <a:rPr lang="en-US" smtClean="0"/>
              <a:t>1</a:t>
            </a:fld>
            <a:endParaRPr lang="en-US" dirty="0"/>
          </a:p>
        </p:txBody>
      </p:sp>
    </p:spTree>
    <p:extLst>
      <p:ext uri="{BB962C8B-B14F-4D97-AF65-F5344CB8AC3E}">
        <p14:creationId xmlns:p14="http://schemas.microsoft.com/office/powerpoint/2010/main" val="1109660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1241425"/>
            <a:ext cx="5956300" cy="3349625"/>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59F059C-BC53-4DE8-8404-7AF0A9D6B910}" type="slidenum">
              <a:rPr lang="zh-CN" altLang="en-US" smtClean="0"/>
              <a:pPr/>
              <a:t>10</a:t>
            </a:fld>
            <a:endParaRPr lang="zh-CN" altLang="en-US"/>
          </a:p>
        </p:txBody>
      </p:sp>
    </p:spTree>
    <p:extLst>
      <p:ext uri="{BB962C8B-B14F-4D97-AF65-F5344CB8AC3E}">
        <p14:creationId xmlns:p14="http://schemas.microsoft.com/office/powerpoint/2010/main" val="448788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91954954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9" name="矩形 8"/>
          <p:cNvSpPr/>
          <p:nvPr userDrawn="1"/>
        </p:nvSpPr>
        <p:spPr>
          <a:xfrm flipV="1">
            <a:off x="900" y="6332555"/>
            <a:ext cx="951548" cy="1428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6"/>
            <a:endParaRPr lang="zh-CN" altLang="en-US" sz="1700">
              <a:solidFill>
                <a:prstClr val="white"/>
              </a:solidFill>
            </a:endParaRPr>
          </a:p>
        </p:txBody>
      </p:sp>
      <p:sp>
        <p:nvSpPr>
          <p:cNvPr id="10" name="矩形 30"/>
          <p:cNvSpPr>
            <a:spLocks noChangeArrowheads="1"/>
          </p:cNvSpPr>
          <p:nvPr userDrawn="1"/>
        </p:nvSpPr>
        <p:spPr bwMode="auto">
          <a:xfrm>
            <a:off x="1101101" y="6332555"/>
            <a:ext cx="71426" cy="142876"/>
          </a:xfrm>
          <a:prstGeom prst="rect">
            <a:avLst/>
          </a:prstGeom>
          <a:solidFill>
            <a:srgbClr val="002060"/>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11" name="矩形 31"/>
          <p:cNvSpPr>
            <a:spLocks noChangeArrowheads="1"/>
          </p:cNvSpPr>
          <p:nvPr userDrawn="1"/>
        </p:nvSpPr>
        <p:spPr bwMode="auto">
          <a:xfrm>
            <a:off x="1017444" y="6332555"/>
            <a:ext cx="48377" cy="142876"/>
          </a:xfrm>
          <a:prstGeom prst="rect">
            <a:avLst/>
          </a:prstGeom>
          <a:solidFill>
            <a:srgbClr val="002060"/>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13" name="矩形 12"/>
          <p:cNvSpPr/>
          <p:nvPr userDrawn="1"/>
        </p:nvSpPr>
        <p:spPr>
          <a:xfrm flipV="1">
            <a:off x="3048467" y="6343902"/>
            <a:ext cx="9142600" cy="13152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6"/>
            <a:endParaRPr lang="zh-CN" altLang="en-US" sz="1700">
              <a:solidFill>
                <a:prstClr val="white"/>
              </a:solidFill>
            </a:endParaRPr>
          </a:p>
        </p:txBody>
      </p:sp>
      <p:sp>
        <p:nvSpPr>
          <p:cNvPr id="16" name="矩形 15"/>
          <p:cNvSpPr/>
          <p:nvPr userDrawn="1"/>
        </p:nvSpPr>
        <p:spPr>
          <a:xfrm flipV="1">
            <a:off x="0" y="685787"/>
            <a:ext cx="951548" cy="142875"/>
          </a:xfrm>
          <a:prstGeom prst="rect">
            <a:avLst/>
          </a:prstGeom>
          <a:solidFill>
            <a:srgbClr val="DF6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6"/>
            <a:endParaRPr lang="zh-CN" altLang="en-US" sz="1700">
              <a:solidFill>
                <a:prstClr val="white"/>
              </a:solidFill>
            </a:endParaRPr>
          </a:p>
        </p:txBody>
      </p:sp>
      <p:sp>
        <p:nvSpPr>
          <p:cNvPr id="17" name="矩形 30"/>
          <p:cNvSpPr>
            <a:spLocks noChangeArrowheads="1"/>
          </p:cNvSpPr>
          <p:nvPr userDrawn="1"/>
        </p:nvSpPr>
        <p:spPr bwMode="auto">
          <a:xfrm>
            <a:off x="1100200" y="685786"/>
            <a:ext cx="71426" cy="142876"/>
          </a:xfrm>
          <a:prstGeom prst="rect">
            <a:avLst/>
          </a:prstGeom>
          <a:solidFill>
            <a:srgbClr val="DF6012"/>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18" name="矩形 31"/>
          <p:cNvSpPr>
            <a:spLocks noChangeArrowheads="1"/>
          </p:cNvSpPr>
          <p:nvPr userDrawn="1"/>
        </p:nvSpPr>
        <p:spPr bwMode="auto">
          <a:xfrm>
            <a:off x="1016544" y="685786"/>
            <a:ext cx="48377" cy="142876"/>
          </a:xfrm>
          <a:prstGeom prst="rect">
            <a:avLst/>
          </a:prstGeom>
          <a:solidFill>
            <a:srgbClr val="DF6012"/>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14" name="文本框 13"/>
          <p:cNvSpPr txBox="1"/>
          <p:nvPr userDrawn="1"/>
        </p:nvSpPr>
        <p:spPr>
          <a:xfrm>
            <a:off x="1326086" y="6294622"/>
            <a:ext cx="1562031" cy="238848"/>
          </a:xfrm>
          <a:prstGeom prst="rect">
            <a:avLst/>
          </a:prstGeom>
          <a:noFill/>
        </p:spPr>
        <p:txBody>
          <a:bodyPr wrap="none" rtlCol="0">
            <a:spAutoFit/>
          </a:bodyPr>
          <a:lstStyle/>
          <a:p>
            <a:r>
              <a:rPr kumimoji="1" lang="zh-CN" altLang="en-US" sz="952" spc="317" dirty="0" smtClean="0">
                <a:solidFill>
                  <a:srgbClr val="DF6012"/>
                </a:solidFill>
                <a:latin typeface="Microsoft YaHei" charset="-122"/>
                <a:ea typeface="Microsoft YaHei" charset="-122"/>
                <a:cs typeface="Microsoft YaHei" charset="-122"/>
              </a:rPr>
              <a:t>主动管理 多元投资</a:t>
            </a:r>
            <a:endParaRPr kumimoji="1" lang="zh-CN" altLang="en-US" sz="952" spc="317" dirty="0">
              <a:solidFill>
                <a:srgbClr val="DF6012"/>
              </a:solidFill>
              <a:latin typeface="Microsoft YaHei" charset="-122"/>
              <a:ea typeface="Microsoft YaHei" charset="-122"/>
              <a:cs typeface="Microsoft YaHei" charset="-122"/>
            </a:endParaRPr>
          </a:p>
        </p:txBody>
      </p:sp>
      <p:pic>
        <p:nvPicPr>
          <p:cNvPr id="15" name="图片 14"/>
          <p:cNvPicPr>
            <a:picLocks noChangeAspect="1"/>
          </p:cNvPicPr>
          <p:nvPr userDrawn="1"/>
        </p:nvPicPr>
        <p:blipFill>
          <a:blip r:embed="rId2" cstate="email">
            <a:clrChange>
              <a:clrFrom>
                <a:srgbClr val="000000">
                  <a:alpha val="0"/>
                </a:srgbClr>
              </a:clrFrom>
              <a:clrTo>
                <a:srgbClr val="000000">
                  <a:alpha val="0"/>
                </a:srgbClr>
              </a:clrTo>
            </a:clrChange>
            <a:extLst>
              <a:ext uri="{BEBA8EAE-BF5A-486C-A8C5-ECC9F3942E4B}">
                <a14:imgProps xmlns:a14="http://schemas.microsoft.com/office/drawing/2010/main">
                  <a14:imgLayer r:embed="rId3">
                    <a14:imgEffect>
                      <a14:colorTemperature colorTemp="4700"/>
                    </a14:imgEffect>
                    <a14:imgEffect>
                      <a14:saturation sat="0"/>
                    </a14:imgEffect>
                  </a14:imgLayer>
                </a14:imgProps>
              </a:ext>
              <a:ext uri="{28A0092B-C50C-407E-A947-70E740481C1C}">
                <a14:useLocalDpi xmlns:a14="http://schemas.microsoft.com/office/drawing/2010/main"/>
              </a:ext>
            </a:extLst>
          </a:blip>
          <a:stretch>
            <a:fillRect/>
          </a:stretch>
        </p:blipFill>
        <p:spPr>
          <a:xfrm>
            <a:off x="8410430" y="2752255"/>
            <a:ext cx="3780637" cy="3781215"/>
          </a:xfrm>
          <a:prstGeom prst="rect">
            <a:avLst/>
          </a:prstGeom>
        </p:spPr>
      </p:pic>
      <p:pic>
        <p:nvPicPr>
          <p:cNvPr id="12" name="图片 11"/>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0543134" y="200217"/>
            <a:ext cx="1498404" cy="385291"/>
          </a:xfrm>
          <a:prstGeom prst="rect">
            <a:avLst/>
          </a:prstGeom>
        </p:spPr>
      </p:pic>
    </p:spTree>
    <p:extLst>
      <p:ext uri="{BB962C8B-B14F-4D97-AF65-F5344CB8AC3E}">
        <p14:creationId xmlns:p14="http://schemas.microsoft.com/office/powerpoint/2010/main" val="247167679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4" name="矩形 3"/>
          <p:cNvSpPr/>
          <p:nvPr userDrawn="1"/>
        </p:nvSpPr>
        <p:spPr>
          <a:xfrm flipV="1">
            <a:off x="0" y="685787"/>
            <a:ext cx="951548" cy="142875"/>
          </a:xfrm>
          <a:prstGeom prst="rect">
            <a:avLst/>
          </a:prstGeom>
          <a:solidFill>
            <a:srgbClr val="DF6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6"/>
            <a:endParaRPr lang="zh-CN" altLang="en-US" sz="1700">
              <a:solidFill>
                <a:prstClr val="white"/>
              </a:solidFill>
            </a:endParaRPr>
          </a:p>
        </p:txBody>
      </p:sp>
      <p:sp>
        <p:nvSpPr>
          <p:cNvPr id="5" name="矩形 30"/>
          <p:cNvSpPr>
            <a:spLocks noChangeArrowheads="1"/>
          </p:cNvSpPr>
          <p:nvPr userDrawn="1"/>
        </p:nvSpPr>
        <p:spPr bwMode="auto">
          <a:xfrm>
            <a:off x="1100200" y="685786"/>
            <a:ext cx="71426" cy="142876"/>
          </a:xfrm>
          <a:prstGeom prst="rect">
            <a:avLst/>
          </a:prstGeom>
          <a:solidFill>
            <a:srgbClr val="DF6012"/>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6" name="矩形 31"/>
          <p:cNvSpPr>
            <a:spLocks noChangeArrowheads="1"/>
          </p:cNvSpPr>
          <p:nvPr userDrawn="1"/>
        </p:nvSpPr>
        <p:spPr bwMode="auto">
          <a:xfrm>
            <a:off x="1016544" y="685786"/>
            <a:ext cx="48377" cy="142876"/>
          </a:xfrm>
          <a:prstGeom prst="rect">
            <a:avLst/>
          </a:prstGeom>
          <a:solidFill>
            <a:srgbClr val="DF6012"/>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pic>
        <p:nvPicPr>
          <p:cNvPr id="8" name="图片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543134" y="200217"/>
            <a:ext cx="1498404" cy="385291"/>
          </a:xfrm>
          <a:prstGeom prst="rect">
            <a:avLst/>
          </a:prstGeom>
        </p:spPr>
      </p:pic>
      <p:pic>
        <p:nvPicPr>
          <p:cNvPr id="10" name="图片 9"/>
          <p:cNvPicPr>
            <a:picLocks noChangeAspect="1"/>
          </p:cNvPicPr>
          <p:nvPr userDrawn="1"/>
        </p:nvPicPr>
        <p:blipFill>
          <a:blip r:embed="rId3" cstate="email">
            <a:extLst>
              <a:ext uri="{BEBA8EAE-BF5A-486C-A8C5-ECC9F3942E4B}">
                <a14:imgProps xmlns:a14="http://schemas.microsoft.com/office/drawing/2010/main">
                  <a14:imgLayer r:embed="rId4">
                    <a14:imgEffect>
                      <a14:colorTemperature colorTemp="4700"/>
                    </a14:imgEffect>
                    <a14:imgEffect>
                      <a14:saturation sat="0"/>
                    </a14:imgEffect>
                  </a14:imgLayer>
                </a14:imgProps>
              </a:ext>
              <a:ext uri="{28A0092B-C50C-407E-A947-70E740481C1C}">
                <a14:useLocalDpi xmlns:a14="http://schemas.microsoft.com/office/drawing/2010/main"/>
              </a:ext>
            </a:extLst>
          </a:blip>
          <a:stretch>
            <a:fillRect/>
          </a:stretch>
        </p:blipFill>
        <p:spPr>
          <a:xfrm>
            <a:off x="8410430" y="2752255"/>
            <a:ext cx="3780637" cy="3781215"/>
          </a:xfrm>
          <a:prstGeom prst="rect">
            <a:avLst/>
          </a:prstGeom>
        </p:spPr>
      </p:pic>
    </p:spTree>
    <p:extLst>
      <p:ext uri="{BB962C8B-B14F-4D97-AF65-F5344CB8AC3E}">
        <p14:creationId xmlns:p14="http://schemas.microsoft.com/office/powerpoint/2010/main" val="349885574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矩形 2"/>
          <p:cNvSpPr/>
          <p:nvPr userDrawn="1"/>
        </p:nvSpPr>
        <p:spPr>
          <a:xfrm flipV="1">
            <a:off x="0" y="685787"/>
            <a:ext cx="951548" cy="142875"/>
          </a:xfrm>
          <a:prstGeom prst="rect">
            <a:avLst/>
          </a:prstGeom>
          <a:solidFill>
            <a:srgbClr val="DF6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6"/>
            <a:endParaRPr lang="zh-CN" altLang="en-US" sz="1700">
              <a:solidFill>
                <a:prstClr val="white"/>
              </a:solidFill>
            </a:endParaRPr>
          </a:p>
        </p:txBody>
      </p:sp>
      <p:sp>
        <p:nvSpPr>
          <p:cNvPr id="4" name="矩形 30"/>
          <p:cNvSpPr>
            <a:spLocks noChangeArrowheads="1"/>
          </p:cNvSpPr>
          <p:nvPr userDrawn="1"/>
        </p:nvSpPr>
        <p:spPr bwMode="auto">
          <a:xfrm>
            <a:off x="1100200" y="685786"/>
            <a:ext cx="71426" cy="142876"/>
          </a:xfrm>
          <a:prstGeom prst="rect">
            <a:avLst/>
          </a:prstGeom>
          <a:solidFill>
            <a:srgbClr val="DF6012"/>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5" name="矩形 31"/>
          <p:cNvSpPr>
            <a:spLocks noChangeArrowheads="1"/>
          </p:cNvSpPr>
          <p:nvPr userDrawn="1"/>
        </p:nvSpPr>
        <p:spPr bwMode="auto">
          <a:xfrm>
            <a:off x="1016544" y="685786"/>
            <a:ext cx="48377" cy="142876"/>
          </a:xfrm>
          <a:prstGeom prst="rect">
            <a:avLst/>
          </a:prstGeom>
          <a:solidFill>
            <a:srgbClr val="DF6012"/>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pic>
        <p:nvPicPr>
          <p:cNvPr id="9" name="图片 8"/>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543134" y="200217"/>
            <a:ext cx="1498404" cy="385291"/>
          </a:xfrm>
          <a:prstGeom prst="rect">
            <a:avLst/>
          </a:prstGeom>
        </p:spPr>
      </p:pic>
      <p:pic>
        <p:nvPicPr>
          <p:cNvPr id="7" name="图片 6"/>
          <p:cNvPicPr>
            <a:picLocks noChangeAspect="1"/>
          </p:cNvPicPr>
          <p:nvPr userDrawn="1"/>
        </p:nvPicPr>
        <p:blipFill>
          <a:blip r:embed="rId3" cstate="email">
            <a:extLst>
              <a:ext uri="{BEBA8EAE-BF5A-486C-A8C5-ECC9F3942E4B}">
                <a14:imgProps xmlns:a14="http://schemas.microsoft.com/office/drawing/2010/main">
                  <a14:imgLayer r:embed="rId4">
                    <a14:imgEffect>
                      <a14:colorTemperature colorTemp="4700"/>
                    </a14:imgEffect>
                    <a14:imgEffect>
                      <a14:saturation sat="0"/>
                    </a14:imgEffect>
                  </a14:imgLayer>
                </a14:imgProps>
              </a:ext>
              <a:ext uri="{28A0092B-C50C-407E-A947-70E740481C1C}">
                <a14:useLocalDpi xmlns:a14="http://schemas.microsoft.com/office/drawing/2010/main"/>
              </a:ext>
            </a:extLst>
          </a:blip>
          <a:stretch>
            <a:fillRect/>
          </a:stretch>
        </p:blipFill>
        <p:spPr>
          <a:xfrm>
            <a:off x="8410430" y="2752255"/>
            <a:ext cx="3780637" cy="3781215"/>
          </a:xfrm>
          <a:prstGeom prst="rect">
            <a:avLst/>
          </a:prstGeom>
        </p:spPr>
      </p:pic>
    </p:spTree>
    <p:extLst>
      <p:ext uri="{BB962C8B-B14F-4D97-AF65-F5344CB8AC3E}">
        <p14:creationId xmlns:p14="http://schemas.microsoft.com/office/powerpoint/2010/main" val="422721772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
        <p:nvSpPr>
          <p:cNvPr id="3" name="矩形 2"/>
          <p:cNvSpPr/>
          <p:nvPr userDrawn="1"/>
        </p:nvSpPr>
        <p:spPr>
          <a:xfrm flipV="1">
            <a:off x="0" y="685787"/>
            <a:ext cx="951548" cy="142875"/>
          </a:xfrm>
          <a:prstGeom prst="rect">
            <a:avLst/>
          </a:prstGeom>
          <a:solidFill>
            <a:srgbClr val="DF6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6"/>
            <a:endParaRPr lang="zh-CN" altLang="en-US" sz="1700">
              <a:solidFill>
                <a:prstClr val="white"/>
              </a:solidFill>
            </a:endParaRPr>
          </a:p>
        </p:txBody>
      </p:sp>
      <p:sp>
        <p:nvSpPr>
          <p:cNvPr id="4" name="矩形 30"/>
          <p:cNvSpPr>
            <a:spLocks noChangeArrowheads="1"/>
          </p:cNvSpPr>
          <p:nvPr userDrawn="1"/>
        </p:nvSpPr>
        <p:spPr bwMode="auto">
          <a:xfrm>
            <a:off x="1100200" y="685786"/>
            <a:ext cx="71426" cy="142876"/>
          </a:xfrm>
          <a:prstGeom prst="rect">
            <a:avLst/>
          </a:prstGeom>
          <a:solidFill>
            <a:srgbClr val="DF6012"/>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5" name="矩形 31"/>
          <p:cNvSpPr>
            <a:spLocks noChangeArrowheads="1"/>
          </p:cNvSpPr>
          <p:nvPr userDrawn="1"/>
        </p:nvSpPr>
        <p:spPr bwMode="auto">
          <a:xfrm>
            <a:off x="1016544" y="685786"/>
            <a:ext cx="48377" cy="142876"/>
          </a:xfrm>
          <a:prstGeom prst="rect">
            <a:avLst/>
          </a:prstGeom>
          <a:solidFill>
            <a:srgbClr val="DF6012"/>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pic>
        <p:nvPicPr>
          <p:cNvPr id="7" name="图片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543134" y="200217"/>
            <a:ext cx="1498404" cy="385291"/>
          </a:xfrm>
          <a:prstGeom prst="rect">
            <a:avLst/>
          </a:prstGeom>
        </p:spPr>
      </p:pic>
      <p:pic>
        <p:nvPicPr>
          <p:cNvPr id="9" name="图片 8"/>
          <p:cNvPicPr>
            <a:picLocks noChangeAspect="1"/>
          </p:cNvPicPr>
          <p:nvPr userDrawn="1"/>
        </p:nvPicPr>
        <p:blipFill>
          <a:blip r:embed="rId3" cstate="email">
            <a:extLst>
              <a:ext uri="{BEBA8EAE-BF5A-486C-A8C5-ECC9F3942E4B}">
                <a14:imgProps xmlns:a14="http://schemas.microsoft.com/office/drawing/2010/main">
                  <a14:imgLayer r:embed="rId4">
                    <a14:imgEffect>
                      <a14:colorTemperature colorTemp="4700"/>
                    </a14:imgEffect>
                    <a14:imgEffect>
                      <a14:saturation sat="0"/>
                    </a14:imgEffect>
                  </a14:imgLayer>
                </a14:imgProps>
              </a:ext>
              <a:ext uri="{28A0092B-C50C-407E-A947-70E740481C1C}">
                <a14:useLocalDpi xmlns:a14="http://schemas.microsoft.com/office/drawing/2010/main"/>
              </a:ext>
            </a:extLst>
          </a:blip>
          <a:stretch>
            <a:fillRect/>
          </a:stretch>
        </p:blipFill>
        <p:spPr>
          <a:xfrm>
            <a:off x="8410430" y="2752255"/>
            <a:ext cx="3780637" cy="3781215"/>
          </a:xfrm>
          <a:prstGeom prst="rect">
            <a:avLst/>
          </a:prstGeom>
        </p:spPr>
      </p:pic>
    </p:spTree>
    <p:extLst>
      <p:ext uri="{BB962C8B-B14F-4D97-AF65-F5344CB8AC3E}">
        <p14:creationId xmlns:p14="http://schemas.microsoft.com/office/powerpoint/2010/main" val="39812654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pic>
        <p:nvPicPr>
          <p:cNvPr id="15" name="图片 14"/>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8982" y="0"/>
            <a:ext cx="12210982" cy="3341734"/>
          </a:xfrm>
          <a:prstGeom prst="rect">
            <a:avLst/>
          </a:prstGeom>
        </p:spPr>
      </p:pic>
      <p:sp>
        <p:nvSpPr>
          <p:cNvPr id="19" name="矩形 18"/>
          <p:cNvSpPr/>
          <p:nvPr userDrawn="1"/>
        </p:nvSpPr>
        <p:spPr>
          <a:xfrm>
            <a:off x="-9050" y="6248784"/>
            <a:ext cx="12191118" cy="38312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42"/>
          </a:p>
        </p:txBody>
      </p:sp>
      <p:sp>
        <p:nvSpPr>
          <p:cNvPr id="20" name="前言"/>
          <p:cNvSpPr>
            <a:spLocks noChangeArrowheads="1"/>
          </p:cNvSpPr>
          <p:nvPr userDrawn="1"/>
        </p:nvSpPr>
        <p:spPr bwMode="auto">
          <a:xfrm>
            <a:off x="3573564" y="3567014"/>
            <a:ext cx="4529996" cy="853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53594" tIns="76797" rIns="153594" bIns="7679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a:spcBef>
                <a:spcPct val="0"/>
              </a:spcBef>
              <a:buNone/>
            </a:pPr>
            <a:r>
              <a:rPr lang="en-US" altLang="zh-CN" sz="4536" b="1" dirty="0">
                <a:solidFill>
                  <a:srgbClr val="DE6111"/>
                </a:solidFill>
              </a:rPr>
              <a:t>THANK YOU</a:t>
            </a:r>
            <a:r>
              <a:rPr lang="zh-CN" altLang="en-US" sz="4536" b="1" dirty="0">
                <a:solidFill>
                  <a:srgbClr val="DE6111"/>
                </a:solidFill>
              </a:rPr>
              <a:t>！</a:t>
            </a:r>
            <a:endParaRPr lang="zh-CN" altLang="en-US" sz="4536" dirty="0">
              <a:solidFill>
                <a:srgbClr val="DE6111"/>
              </a:solidFill>
              <a:sym typeface="Impact" pitchFamily="34" charset="0"/>
            </a:endParaRPr>
          </a:p>
        </p:txBody>
      </p:sp>
      <p:pic>
        <p:nvPicPr>
          <p:cNvPr id="21" name="图片 20"/>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3306405" y="4583863"/>
            <a:ext cx="5064315" cy="805912"/>
          </a:xfrm>
          <a:prstGeom prst="rect">
            <a:avLst/>
          </a:prstGeom>
        </p:spPr>
      </p:pic>
    </p:spTree>
    <p:extLst>
      <p:ext uri="{BB962C8B-B14F-4D97-AF65-F5344CB8AC3E}">
        <p14:creationId xmlns:p14="http://schemas.microsoft.com/office/powerpoint/2010/main" val="100679741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矩形 10"/>
          <p:cNvSpPr/>
          <p:nvPr userDrawn="1"/>
        </p:nvSpPr>
        <p:spPr>
          <a:xfrm flipV="1">
            <a:off x="900" y="6332555"/>
            <a:ext cx="951548" cy="1428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6"/>
            <a:endParaRPr lang="zh-CN" altLang="en-US" sz="1700">
              <a:solidFill>
                <a:prstClr val="white"/>
              </a:solidFill>
            </a:endParaRPr>
          </a:p>
        </p:txBody>
      </p:sp>
      <p:sp>
        <p:nvSpPr>
          <p:cNvPr id="12" name="矩形 30"/>
          <p:cNvSpPr>
            <a:spLocks noChangeArrowheads="1"/>
          </p:cNvSpPr>
          <p:nvPr userDrawn="1"/>
        </p:nvSpPr>
        <p:spPr bwMode="auto">
          <a:xfrm>
            <a:off x="1101101" y="6332555"/>
            <a:ext cx="71426" cy="142876"/>
          </a:xfrm>
          <a:prstGeom prst="rect">
            <a:avLst/>
          </a:prstGeom>
          <a:solidFill>
            <a:srgbClr val="002060"/>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13" name="矩形 31"/>
          <p:cNvSpPr>
            <a:spLocks noChangeArrowheads="1"/>
          </p:cNvSpPr>
          <p:nvPr userDrawn="1"/>
        </p:nvSpPr>
        <p:spPr bwMode="auto">
          <a:xfrm>
            <a:off x="1017444" y="6332555"/>
            <a:ext cx="48377" cy="142876"/>
          </a:xfrm>
          <a:prstGeom prst="rect">
            <a:avLst/>
          </a:prstGeom>
          <a:solidFill>
            <a:srgbClr val="002060"/>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14" name="矩形 13"/>
          <p:cNvSpPr/>
          <p:nvPr userDrawn="1"/>
        </p:nvSpPr>
        <p:spPr>
          <a:xfrm flipV="1">
            <a:off x="3048467" y="6343902"/>
            <a:ext cx="9142600" cy="13152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6"/>
            <a:endParaRPr lang="zh-CN" altLang="en-US" sz="1700">
              <a:solidFill>
                <a:prstClr val="white"/>
              </a:solidFill>
            </a:endParaRPr>
          </a:p>
        </p:txBody>
      </p:sp>
      <p:sp>
        <p:nvSpPr>
          <p:cNvPr id="16" name="文本框 15"/>
          <p:cNvSpPr txBox="1"/>
          <p:nvPr userDrawn="1"/>
        </p:nvSpPr>
        <p:spPr>
          <a:xfrm>
            <a:off x="1326086" y="6294622"/>
            <a:ext cx="1562031" cy="238848"/>
          </a:xfrm>
          <a:prstGeom prst="rect">
            <a:avLst/>
          </a:prstGeom>
          <a:noFill/>
        </p:spPr>
        <p:txBody>
          <a:bodyPr wrap="none" rtlCol="0">
            <a:spAutoFit/>
          </a:bodyPr>
          <a:lstStyle/>
          <a:p>
            <a:r>
              <a:rPr kumimoji="1" lang="zh-CN" altLang="en-US" sz="952" spc="317" dirty="0" smtClean="0">
                <a:solidFill>
                  <a:srgbClr val="DF6012"/>
                </a:solidFill>
                <a:latin typeface="Microsoft YaHei" charset="-122"/>
                <a:ea typeface="Microsoft YaHei" charset="-122"/>
                <a:cs typeface="Microsoft YaHei" charset="-122"/>
              </a:rPr>
              <a:t>主动管理 多元投资</a:t>
            </a:r>
            <a:endParaRPr kumimoji="1" lang="zh-CN" altLang="en-US" sz="952" spc="317" dirty="0">
              <a:solidFill>
                <a:srgbClr val="DF6012"/>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425608689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4" r:id="rId4"/>
    <p:sldLayoutId id="2147483667" r:id="rId5"/>
    <p:sldLayoutId id="2147483666" r:id="rId6"/>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9.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vmlDrawing" Target="../drawings/vmlDrawing2.vml"/><Relationship Id="rId5" Type="http://schemas.openxmlformats.org/officeDocument/2006/relationships/image" Target="../media/image12.wmf"/><Relationship Id="rId4" Type="http://schemas.openxmlformats.org/officeDocument/2006/relationships/package" Target="../embeddings/Microsoft_Word___1.docx"/></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14.wmf"/><Relationship Id="rId4" Type="http://schemas.openxmlformats.org/officeDocument/2006/relationships/package" Target="../embeddings/Microsoft_Word___2.docx"/></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8712" r="759" b="21005"/>
          <a:stretch/>
        </p:blipFill>
        <p:spPr>
          <a:xfrm>
            <a:off x="0" y="0"/>
            <a:ext cx="12189123" cy="5134708"/>
          </a:xfrm>
          <a:prstGeom prst="rect">
            <a:avLst/>
          </a:prstGeom>
        </p:spPr>
      </p:pic>
      <p:sp>
        <p:nvSpPr>
          <p:cNvPr id="12" name="矩形 30"/>
          <p:cNvSpPr>
            <a:spLocks noChangeArrowheads="1"/>
          </p:cNvSpPr>
          <p:nvPr/>
        </p:nvSpPr>
        <p:spPr bwMode="auto">
          <a:xfrm>
            <a:off x="1101101" y="6332110"/>
            <a:ext cx="71426" cy="142855"/>
          </a:xfrm>
          <a:prstGeom prst="rect">
            <a:avLst/>
          </a:prstGeom>
          <a:solidFill>
            <a:srgbClr val="002060"/>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13" name="矩形 31"/>
          <p:cNvSpPr>
            <a:spLocks noChangeArrowheads="1"/>
          </p:cNvSpPr>
          <p:nvPr/>
        </p:nvSpPr>
        <p:spPr bwMode="auto">
          <a:xfrm>
            <a:off x="1017445" y="6332110"/>
            <a:ext cx="48377" cy="142855"/>
          </a:xfrm>
          <a:prstGeom prst="rect">
            <a:avLst/>
          </a:prstGeom>
          <a:solidFill>
            <a:srgbClr val="002060"/>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21" name="TextBox 8"/>
          <p:cNvSpPr txBox="1"/>
          <p:nvPr/>
        </p:nvSpPr>
        <p:spPr>
          <a:xfrm>
            <a:off x="1440739" y="5145204"/>
            <a:ext cx="9499446" cy="548292"/>
          </a:xfrm>
          <a:prstGeom prst="rect">
            <a:avLst/>
          </a:prstGeom>
          <a:noFill/>
        </p:spPr>
        <p:txBody>
          <a:bodyPr wrap="square" rtlCol="0">
            <a:spAutoFit/>
          </a:bodyPr>
          <a:lstStyle/>
          <a:p>
            <a:pPr algn="ctr" defTabSz="914216"/>
            <a:r>
              <a:rPr lang="zh-CN" altLang="en-US" sz="2963" dirty="0">
                <a:solidFill>
                  <a:srgbClr val="002060"/>
                </a:solidFill>
                <a:latin typeface="微软雅黑" pitchFamily="34" charset="-122"/>
                <a:ea typeface="微软雅黑" pitchFamily="34" charset="-122"/>
              </a:rPr>
              <a:t>微</a:t>
            </a:r>
            <a:r>
              <a:rPr lang="zh-CN" altLang="en-US" sz="2963" dirty="0" smtClean="0">
                <a:solidFill>
                  <a:srgbClr val="002060"/>
                </a:solidFill>
                <a:latin typeface="微软雅黑" pitchFamily="34" charset="-122"/>
                <a:ea typeface="微软雅黑" pitchFamily="34" charset="-122"/>
              </a:rPr>
              <a:t>信服务号优化项目启动</a:t>
            </a:r>
            <a:r>
              <a:rPr lang="en-US" altLang="zh-CN" sz="2963" dirty="0" smtClean="0">
                <a:solidFill>
                  <a:srgbClr val="002060"/>
                </a:solidFill>
                <a:latin typeface="微软雅黑" pitchFamily="34" charset="-122"/>
                <a:ea typeface="微软雅黑" pitchFamily="34" charset="-122"/>
              </a:rPr>
              <a:t>&amp;</a:t>
            </a:r>
            <a:r>
              <a:rPr lang="zh-CN" altLang="en-US" sz="2963" dirty="0" smtClean="0">
                <a:solidFill>
                  <a:srgbClr val="002060"/>
                </a:solidFill>
                <a:latin typeface="微软雅黑" pitchFamily="34" charset="-122"/>
                <a:ea typeface="微软雅黑" pitchFamily="34" charset="-122"/>
              </a:rPr>
              <a:t>评审</a:t>
            </a:r>
            <a:endParaRPr lang="en-US" altLang="zh-CN" sz="1905" dirty="0">
              <a:solidFill>
                <a:srgbClr val="002060"/>
              </a:solidFill>
              <a:latin typeface="微软雅黑" pitchFamily="34" charset="-122"/>
              <a:ea typeface="微软雅黑" pitchFamily="34" charset="-122"/>
            </a:endParaRPr>
          </a:p>
        </p:txBody>
      </p:sp>
      <p:sp>
        <p:nvSpPr>
          <p:cNvPr id="17" name="TextBox 8"/>
          <p:cNvSpPr txBox="1"/>
          <p:nvPr/>
        </p:nvSpPr>
        <p:spPr>
          <a:xfrm>
            <a:off x="1440739" y="5784011"/>
            <a:ext cx="9499446" cy="548099"/>
          </a:xfrm>
          <a:prstGeom prst="rect">
            <a:avLst/>
          </a:prstGeom>
          <a:noFill/>
        </p:spPr>
        <p:txBody>
          <a:bodyPr wrap="square" rtlCol="0">
            <a:spAutoFit/>
          </a:bodyPr>
          <a:lstStyle/>
          <a:p>
            <a:pPr algn="ctr" defTabSz="914216"/>
            <a:r>
              <a:rPr lang="zh-CN" altLang="en-US" sz="1481" dirty="0" smtClean="0">
                <a:solidFill>
                  <a:srgbClr val="002060"/>
                </a:solidFill>
                <a:latin typeface="微软雅黑" pitchFamily="34" charset="-122"/>
                <a:ea typeface="微软雅黑" pitchFamily="34" charset="-122"/>
              </a:rPr>
              <a:t>网络金融部</a:t>
            </a:r>
            <a:endParaRPr lang="en-US" altLang="zh-CN" sz="1481" dirty="0">
              <a:solidFill>
                <a:srgbClr val="002060"/>
              </a:solidFill>
              <a:latin typeface="微软雅黑" pitchFamily="34" charset="-122"/>
              <a:ea typeface="微软雅黑" pitchFamily="34" charset="-122"/>
            </a:endParaRPr>
          </a:p>
          <a:p>
            <a:pPr algn="ctr" defTabSz="914216"/>
            <a:r>
              <a:rPr lang="en-US" altLang="zh-CN" sz="1481" dirty="0" smtClean="0">
                <a:solidFill>
                  <a:srgbClr val="002060"/>
                </a:solidFill>
                <a:latin typeface="微软雅黑" pitchFamily="34" charset="-122"/>
                <a:ea typeface="微软雅黑" pitchFamily="34" charset="-122"/>
              </a:rPr>
              <a:t>2019</a:t>
            </a:r>
            <a:r>
              <a:rPr lang="zh-CN" altLang="en-US" sz="1481" dirty="0" smtClean="0">
                <a:solidFill>
                  <a:srgbClr val="002060"/>
                </a:solidFill>
                <a:latin typeface="微软雅黑" pitchFamily="34" charset="-122"/>
                <a:ea typeface="微软雅黑" pitchFamily="34" charset="-122"/>
              </a:rPr>
              <a:t>年</a:t>
            </a:r>
            <a:r>
              <a:rPr lang="en-US" altLang="zh-CN" sz="1481" dirty="0" smtClean="0">
                <a:solidFill>
                  <a:srgbClr val="002060"/>
                </a:solidFill>
                <a:latin typeface="微软雅黑" pitchFamily="34" charset="-122"/>
                <a:ea typeface="微软雅黑" pitchFamily="34" charset="-122"/>
              </a:rPr>
              <a:t>4</a:t>
            </a:r>
            <a:r>
              <a:rPr lang="zh-CN" altLang="en-US" sz="1481" dirty="0" smtClean="0">
                <a:solidFill>
                  <a:srgbClr val="002060"/>
                </a:solidFill>
                <a:latin typeface="微软雅黑" pitchFamily="34" charset="-122"/>
                <a:ea typeface="微软雅黑" pitchFamily="34" charset="-122"/>
              </a:rPr>
              <a:t>月</a:t>
            </a:r>
            <a:endParaRPr lang="en-US" altLang="zh-CN" sz="1111" dirty="0">
              <a:solidFill>
                <a:srgbClr val="002060"/>
              </a:solidFill>
              <a:latin typeface="微软雅黑" pitchFamily="34" charset="-122"/>
              <a:ea typeface="微软雅黑" pitchFamily="34" charset="-122"/>
            </a:endParaRPr>
          </a:p>
        </p:txBody>
      </p:sp>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74061" y="60450"/>
            <a:ext cx="1717267" cy="802191"/>
          </a:xfrm>
          <a:prstGeom prst="rect">
            <a:avLst/>
          </a:prstGeom>
        </p:spPr>
      </p:pic>
    </p:spTree>
    <p:extLst>
      <p:ext uri="{BB962C8B-B14F-4D97-AF65-F5344CB8AC3E}">
        <p14:creationId xmlns:p14="http://schemas.microsoft.com/office/powerpoint/2010/main" val="35137599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290798" y="186186"/>
            <a:ext cx="5061114" cy="400110"/>
          </a:xfrm>
          <a:prstGeom prst="rect">
            <a:avLst/>
          </a:prstGeom>
          <a:noFill/>
        </p:spPr>
        <p:txBody>
          <a:bodyPr wrap="square" rtlCol="0">
            <a:spAutoFit/>
          </a:bodyPr>
          <a:lstStyle/>
          <a:p>
            <a:r>
              <a:rPr lang="zh-CN" altLang="en-US" sz="2000" b="1" dirty="0" smtClean="0">
                <a:solidFill>
                  <a:srgbClr val="002060"/>
                </a:solidFill>
                <a:latin typeface="微软雅黑" pitchFamily="34" charset="-122"/>
                <a:ea typeface="微软雅黑" pitchFamily="34" charset="-122"/>
                <a:cs typeface="+mj-cs"/>
              </a:rPr>
              <a:t>会议议题</a:t>
            </a:r>
            <a:endParaRPr lang="zh-CN" altLang="en-US" sz="1200" b="1" dirty="0"/>
          </a:p>
        </p:txBody>
      </p:sp>
      <p:sp>
        <p:nvSpPr>
          <p:cNvPr id="3" name="文本框 2"/>
          <p:cNvSpPr txBox="1"/>
          <p:nvPr/>
        </p:nvSpPr>
        <p:spPr>
          <a:xfrm>
            <a:off x="2286593" y="2156603"/>
            <a:ext cx="1858201" cy="2585323"/>
          </a:xfrm>
          <a:prstGeom prst="rect">
            <a:avLst/>
          </a:prstGeom>
          <a:noFill/>
        </p:spPr>
        <p:txBody>
          <a:bodyPr wrap="none" rtlCol="0">
            <a:spAutoFit/>
          </a:bodyPr>
          <a:lstStyle/>
          <a:p>
            <a:pPr marL="285750" indent="-285750">
              <a:lnSpc>
                <a:spcPct val="150000"/>
              </a:lnSpc>
              <a:buFont typeface="Wingdings" panose="05000000000000000000" pitchFamily="2" charset="2"/>
              <a:buChar char="l"/>
            </a:pPr>
            <a:r>
              <a:rPr lang="zh-CN" altLang="en-US" dirty="0" smtClean="0">
                <a:latin typeface="微软雅黑" panose="020B0503020204020204" pitchFamily="34" charset="-122"/>
                <a:ea typeface="微软雅黑" panose="020B0503020204020204" pitchFamily="34" charset="-122"/>
              </a:rPr>
              <a:t>项目范围</a:t>
            </a:r>
            <a:endParaRPr lang="en-US" altLang="zh-CN" dirty="0" smtClean="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dirty="0" smtClean="0">
                <a:latin typeface="微软雅黑" panose="020B0503020204020204" pitchFamily="34" charset="-122"/>
                <a:ea typeface="微软雅黑" panose="020B0503020204020204" pitchFamily="34" charset="-122"/>
              </a:rPr>
              <a:t>项目日程计划</a:t>
            </a:r>
            <a:endParaRPr lang="en-US" altLang="zh-CN" dirty="0" smtClean="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en-US" altLang="zh-CN" dirty="0" smtClean="0">
                <a:latin typeface="微软雅黑" panose="020B0503020204020204" pitchFamily="34" charset="-122"/>
                <a:ea typeface="微软雅黑" panose="020B0503020204020204" pitchFamily="34" charset="-122"/>
              </a:rPr>
              <a:t>UE</a:t>
            </a:r>
            <a:r>
              <a:rPr lang="zh-CN" altLang="en-US" dirty="0" smtClean="0">
                <a:latin typeface="微软雅黑" panose="020B0503020204020204" pitchFamily="34" charset="-122"/>
                <a:ea typeface="微软雅黑" panose="020B0503020204020204" pitchFamily="34" charset="-122"/>
              </a:rPr>
              <a:t>及</a:t>
            </a:r>
            <a:r>
              <a:rPr lang="en-US" altLang="zh-CN" dirty="0" smtClean="0">
                <a:latin typeface="微软雅黑" panose="020B0503020204020204" pitchFamily="34" charset="-122"/>
                <a:ea typeface="微软雅黑" panose="020B0503020204020204" pitchFamily="34" charset="-122"/>
              </a:rPr>
              <a:t>UI</a:t>
            </a:r>
            <a:r>
              <a:rPr lang="zh-CN" altLang="en-US" dirty="0" smtClean="0">
                <a:latin typeface="微软雅黑" panose="020B0503020204020204" pitchFamily="34" charset="-122"/>
                <a:ea typeface="微软雅黑" panose="020B0503020204020204" pitchFamily="34" charset="-122"/>
              </a:rPr>
              <a:t>设计</a:t>
            </a:r>
            <a:endParaRPr lang="en-US" altLang="zh-CN" dirty="0" smtClean="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dirty="0" smtClean="0">
                <a:latin typeface="微软雅黑" panose="020B0503020204020204" pitchFamily="34" charset="-122"/>
                <a:ea typeface="微软雅黑" panose="020B0503020204020204" pitchFamily="34" charset="-122"/>
              </a:rPr>
              <a:t>架构设计</a:t>
            </a:r>
            <a:endParaRPr lang="en-US" altLang="zh-CN" dirty="0" smtClean="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dirty="0" smtClean="0">
                <a:latin typeface="微软雅黑" panose="020B0503020204020204" pitchFamily="34" charset="-122"/>
                <a:ea typeface="微软雅黑" panose="020B0503020204020204" pitchFamily="34" charset="-122"/>
              </a:rPr>
              <a:t>开发过程管理</a:t>
            </a:r>
            <a:endParaRPr lang="en-US" altLang="zh-CN" dirty="0" smtClean="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en-US" altLang="zh-CN" dirty="0" smtClean="0">
                <a:latin typeface="微软雅黑" panose="020B0503020204020204" pitchFamily="34" charset="-122"/>
                <a:ea typeface="微软雅黑" panose="020B0503020204020204" pitchFamily="34" charset="-122"/>
              </a:rPr>
              <a:t>Q&amp;A</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438650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90798" y="186186"/>
            <a:ext cx="5061114" cy="400110"/>
          </a:xfrm>
          <a:prstGeom prst="rect">
            <a:avLst/>
          </a:prstGeom>
          <a:noFill/>
        </p:spPr>
        <p:txBody>
          <a:bodyPr wrap="square" rtlCol="0">
            <a:spAutoFit/>
          </a:bodyPr>
          <a:lstStyle/>
          <a:p>
            <a:r>
              <a:rPr lang="zh-CN" altLang="en-US" sz="2000" b="1" dirty="0" smtClean="0">
                <a:solidFill>
                  <a:srgbClr val="002060"/>
                </a:solidFill>
                <a:latin typeface="微软雅黑" pitchFamily="34" charset="-122"/>
                <a:ea typeface="微软雅黑" pitchFamily="34" charset="-122"/>
                <a:cs typeface="+mj-cs"/>
              </a:rPr>
              <a:t>项目范围</a:t>
            </a:r>
            <a:endParaRPr lang="zh-CN" altLang="en-US" sz="1200" b="1" dirty="0"/>
          </a:p>
        </p:txBody>
      </p:sp>
      <p:sp>
        <p:nvSpPr>
          <p:cNvPr id="4" name="TextBox 8"/>
          <p:cNvSpPr txBox="1"/>
          <p:nvPr/>
        </p:nvSpPr>
        <p:spPr>
          <a:xfrm>
            <a:off x="510537" y="1254323"/>
            <a:ext cx="2701763" cy="352854"/>
          </a:xfrm>
          <a:prstGeom prst="rect">
            <a:avLst/>
          </a:prstGeom>
          <a:noFill/>
        </p:spPr>
        <p:txBody>
          <a:bodyPr wrap="square" rtlCol="0">
            <a:spAutoFit/>
          </a:bodyPr>
          <a:lstStyle/>
          <a:p>
            <a:pPr defTabSz="914216"/>
            <a:r>
              <a:rPr lang="zh-CN" altLang="en-US" sz="1693" dirty="0" smtClean="0">
                <a:solidFill>
                  <a:srgbClr val="2C4058"/>
                </a:solidFill>
                <a:latin typeface="微软雅黑" pitchFamily="34" charset="-122"/>
                <a:ea typeface="微软雅黑" pitchFamily="34" charset="-122"/>
              </a:rPr>
              <a:t>本期</a:t>
            </a:r>
            <a:r>
              <a:rPr lang="en-US" altLang="zh-CN" sz="1693" dirty="0" smtClean="0">
                <a:solidFill>
                  <a:srgbClr val="2C4058"/>
                </a:solidFill>
                <a:latin typeface="微软雅黑" pitchFamily="34" charset="-122"/>
                <a:ea typeface="微软雅黑" pitchFamily="34" charset="-122"/>
              </a:rPr>
              <a:t>MVP</a:t>
            </a:r>
            <a:r>
              <a:rPr lang="zh-CN" altLang="en-US" sz="1693" dirty="0" smtClean="0">
                <a:solidFill>
                  <a:srgbClr val="2C4058"/>
                </a:solidFill>
                <a:latin typeface="微软雅黑" pitchFamily="34" charset="-122"/>
                <a:ea typeface="微软雅黑" pitchFamily="34" charset="-122"/>
              </a:rPr>
              <a:t>包括内容</a:t>
            </a:r>
            <a:endParaRPr lang="en-US" altLang="zh-CN" sz="1693" dirty="0">
              <a:solidFill>
                <a:srgbClr val="2C4058"/>
              </a:solidFill>
              <a:latin typeface="微软雅黑" pitchFamily="34" charset="-122"/>
              <a:ea typeface="微软雅黑" pitchFamily="34" charset="-122"/>
            </a:endParaRPr>
          </a:p>
        </p:txBody>
      </p:sp>
      <p:sp>
        <p:nvSpPr>
          <p:cNvPr id="5" name="TextBox 8"/>
          <p:cNvSpPr txBox="1"/>
          <p:nvPr/>
        </p:nvSpPr>
        <p:spPr>
          <a:xfrm>
            <a:off x="510536" y="1795294"/>
            <a:ext cx="4248745" cy="707886"/>
          </a:xfrm>
          <a:prstGeom prst="rect">
            <a:avLst/>
          </a:prstGeom>
          <a:noFill/>
        </p:spPr>
        <p:txBody>
          <a:bodyPr wrap="square" rtlCol="0">
            <a:spAutoFit/>
          </a:bodyPr>
          <a:lstStyle/>
          <a:p>
            <a:pPr defTabSz="914216">
              <a:lnSpc>
                <a:spcPts val="1587"/>
              </a:lnSpc>
            </a:pPr>
            <a:r>
              <a:rPr lang="zh-CN" altLang="en-US" sz="1058" spc="85" dirty="0" smtClean="0">
                <a:solidFill>
                  <a:srgbClr val="2C4058"/>
                </a:solidFill>
                <a:latin typeface="微软雅黑" pitchFamily="34" charset="-122"/>
                <a:ea typeface="微软雅黑" pitchFamily="34" charset="-122"/>
              </a:rPr>
              <a:t>除“我的”以外的全部页面，</a:t>
            </a:r>
            <a:endParaRPr lang="en-US" altLang="zh-CN" sz="1058" spc="85" dirty="0" smtClean="0">
              <a:solidFill>
                <a:srgbClr val="2C4058"/>
              </a:solidFill>
              <a:latin typeface="微软雅黑" pitchFamily="34" charset="-122"/>
              <a:ea typeface="微软雅黑" pitchFamily="34" charset="-122"/>
            </a:endParaRPr>
          </a:p>
          <a:p>
            <a:pPr defTabSz="914216">
              <a:lnSpc>
                <a:spcPts val="1587"/>
              </a:lnSpc>
            </a:pPr>
            <a:r>
              <a:rPr lang="zh-CN" altLang="en-US" sz="1058" spc="85" dirty="0" smtClean="0">
                <a:solidFill>
                  <a:srgbClr val="2C4058"/>
                </a:solidFill>
                <a:latin typeface="微软雅黑" pitchFamily="34" charset="-122"/>
                <a:ea typeface="微软雅黑" pitchFamily="34" charset="-122"/>
              </a:rPr>
              <a:t>含“首页”、“产品”、“理财顾问”、“持仓”，以及</a:t>
            </a:r>
            <a:r>
              <a:rPr lang="en-US" altLang="zh-CN" sz="1058" spc="85" dirty="0" smtClean="0">
                <a:solidFill>
                  <a:srgbClr val="2C4058"/>
                </a:solidFill>
                <a:latin typeface="微软雅黑" pitchFamily="34" charset="-122"/>
                <a:ea typeface="微软雅黑" pitchFamily="34" charset="-122"/>
              </a:rPr>
              <a:t>MGM</a:t>
            </a:r>
            <a:r>
              <a:rPr lang="zh-CN" altLang="en-US" sz="1058" spc="85" dirty="0" smtClean="0">
                <a:solidFill>
                  <a:srgbClr val="2C4058"/>
                </a:solidFill>
                <a:latin typeface="微软雅黑" pitchFamily="34" charset="-122"/>
                <a:ea typeface="微软雅黑" pitchFamily="34" charset="-122"/>
              </a:rPr>
              <a:t>、合格投资者认定等已经上线需求在内。</a:t>
            </a:r>
            <a:endParaRPr lang="en-US" altLang="zh-CN" sz="1058" spc="85" dirty="0">
              <a:solidFill>
                <a:srgbClr val="2C4058"/>
              </a:solidFill>
              <a:latin typeface="微软雅黑" pitchFamily="34" charset="-122"/>
              <a:ea typeface="微软雅黑" pitchFamily="34" charset="-122"/>
            </a:endParaRPr>
          </a:p>
        </p:txBody>
      </p:sp>
      <p:cxnSp>
        <p:nvCxnSpPr>
          <p:cNvPr id="6" name="直线连接符 7"/>
          <p:cNvCxnSpPr/>
          <p:nvPr/>
        </p:nvCxnSpPr>
        <p:spPr>
          <a:xfrm>
            <a:off x="597699" y="1725199"/>
            <a:ext cx="385940" cy="0"/>
          </a:xfrm>
          <a:prstGeom prst="line">
            <a:avLst/>
          </a:prstGeom>
          <a:ln w="9525">
            <a:solidFill>
              <a:srgbClr val="DF6012"/>
            </a:solidFill>
          </a:ln>
        </p:spPr>
        <p:style>
          <a:lnRef idx="1">
            <a:schemeClr val="accent1"/>
          </a:lnRef>
          <a:fillRef idx="0">
            <a:schemeClr val="accent1"/>
          </a:fillRef>
          <a:effectRef idx="0">
            <a:schemeClr val="accent1"/>
          </a:effectRef>
          <a:fontRef idx="minor">
            <a:schemeClr val="tx1"/>
          </a:fontRef>
        </p:style>
      </p:cxnSp>
      <p:pic>
        <p:nvPicPr>
          <p:cNvPr id="187" name="图片 186"/>
          <p:cNvPicPr>
            <a:picLocks noChangeAspect="1"/>
          </p:cNvPicPr>
          <p:nvPr/>
        </p:nvPicPr>
        <p:blipFill>
          <a:blip r:embed="rId2"/>
          <a:stretch>
            <a:fillRect/>
          </a:stretch>
        </p:blipFill>
        <p:spPr>
          <a:xfrm>
            <a:off x="4759281" y="1254323"/>
            <a:ext cx="7279202" cy="4715727"/>
          </a:xfrm>
          <a:prstGeom prst="rect">
            <a:avLst/>
          </a:prstGeom>
        </p:spPr>
      </p:pic>
      <p:pic>
        <p:nvPicPr>
          <p:cNvPr id="188" name="图片 187"/>
          <p:cNvPicPr>
            <a:picLocks noChangeAspect="1"/>
          </p:cNvPicPr>
          <p:nvPr/>
        </p:nvPicPr>
        <p:blipFill>
          <a:blip r:embed="rId3"/>
          <a:stretch>
            <a:fillRect/>
          </a:stretch>
        </p:blipFill>
        <p:spPr>
          <a:xfrm>
            <a:off x="1853104" y="2691297"/>
            <a:ext cx="1563610" cy="3248833"/>
          </a:xfrm>
          <a:prstGeom prst="rect">
            <a:avLst/>
          </a:prstGeom>
        </p:spPr>
      </p:pic>
      <p:sp>
        <p:nvSpPr>
          <p:cNvPr id="189" name="矩形 188"/>
          <p:cNvSpPr/>
          <p:nvPr/>
        </p:nvSpPr>
        <p:spPr>
          <a:xfrm>
            <a:off x="2046074" y="5115297"/>
            <a:ext cx="955004" cy="8248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947283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3"/>
          <a:stretch>
            <a:fillRect/>
          </a:stretch>
        </p:blipFill>
        <p:spPr>
          <a:xfrm>
            <a:off x="510537" y="1607177"/>
            <a:ext cx="11029950" cy="3905250"/>
          </a:xfrm>
          <a:prstGeom prst="rect">
            <a:avLst/>
          </a:prstGeom>
        </p:spPr>
      </p:pic>
      <p:sp>
        <p:nvSpPr>
          <p:cNvPr id="3" name="TextBox 3"/>
          <p:cNvSpPr txBox="1"/>
          <p:nvPr/>
        </p:nvSpPr>
        <p:spPr>
          <a:xfrm>
            <a:off x="290798" y="186186"/>
            <a:ext cx="5061114" cy="400110"/>
          </a:xfrm>
          <a:prstGeom prst="rect">
            <a:avLst/>
          </a:prstGeom>
          <a:noFill/>
        </p:spPr>
        <p:txBody>
          <a:bodyPr wrap="square" rtlCol="0">
            <a:spAutoFit/>
          </a:bodyPr>
          <a:lstStyle/>
          <a:p>
            <a:r>
              <a:rPr lang="zh-CN" altLang="en-US" sz="2000" b="1" dirty="0" smtClean="0">
                <a:solidFill>
                  <a:srgbClr val="002060"/>
                </a:solidFill>
                <a:latin typeface="微软雅黑" pitchFamily="34" charset="-122"/>
                <a:ea typeface="微软雅黑" pitchFamily="34" charset="-122"/>
                <a:cs typeface="+mj-cs"/>
              </a:rPr>
              <a:t>项目日程计划</a:t>
            </a:r>
            <a:endParaRPr lang="zh-CN" altLang="en-US" sz="1200" b="1" dirty="0"/>
          </a:p>
        </p:txBody>
      </p:sp>
      <p:sp>
        <p:nvSpPr>
          <p:cNvPr id="4" name="TextBox 8"/>
          <p:cNvSpPr txBox="1"/>
          <p:nvPr/>
        </p:nvSpPr>
        <p:spPr>
          <a:xfrm>
            <a:off x="510537" y="1254323"/>
            <a:ext cx="9275810" cy="352854"/>
          </a:xfrm>
          <a:prstGeom prst="rect">
            <a:avLst/>
          </a:prstGeom>
          <a:noFill/>
        </p:spPr>
        <p:txBody>
          <a:bodyPr wrap="square" rtlCol="0">
            <a:spAutoFit/>
          </a:bodyPr>
          <a:lstStyle/>
          <a:p>
            <a:pPr defTabSz="914216"/>
            <a:r>
              <a:rPr lang="zh-CN" altLang="en-US" sz="1693" dirty="0" smtClean="0">
                <a:solidFill>
                  <a:srgbClr val="2C4058"/>
                </a:solidFill>
                <a:latin typeface="微软雅黑" pitchFamily="34" charset="-122"/>
                <a:ea typeface="微软雅黑" pitchFamily="34" charset="-122"/>
              </a:rPr>
              <a:t>根据项目范围及目标，拆解任务形成</a:t>
            </a:r>
            <a:r>
              <a:rPr lang="en-US" altLang="zh-CN" sz="1693" dirty="0" smtClean="0">
                <a:solidFill>
                  <a:srgbClr val="2C4058"/>
                </a:solidFill>
                <a:latin typeface="微软雅黑" pitchFamily="34" charset="-122"/>
                <a:ea typeface="微软雅黑" pitchFamily="34" charset="-122"/>
              </a:rPr>
              <a:t>WBS</a:t>
            </a:r>
            <a:r>
              <a:rPr lang="zh-CN" altLang="en-US" sz="1693" dirty="0" smtClean="0">
                <a:solidFill>
                  <a:srgbClr val="2C4058"/>
                </a:solidFill>
                <a:latin typeface="微软雅黑" pitchFamily="34" charset="-122"/>
                <a:ea typeface="微软雅黑" pitchFamily="34" charset="-122"/>
              </a:rPr>
              <a:t>，而后评估工作量、分配资源形成项目日程计划</a:t>
            </a:r>
            <a:endParaRPr lang="en-US" altLang="zh-CN" sz="1693" dirty="0">
              <a:solidFill>
                <a:srgbClr val="2C4058"/>
              </a:solidFill>
              <a:latin typeface="微软雅黑" pitchFamily="34" charset="-122"/>
              <a:ea typeface="微软雅黑" pitchFamily="34" charset="-122"/>
            </a:endParaRPr>
          </a:p>
        </p:txBody>
      </p:sp>
      <p:cxnSp>
        <p:nvCxnSpPr>
          <p:cNvPr id="6" name="直线连接符 7"/>
          <p:cNvCxnSpPr/>
          <p:nvPr/>
        </p:nvCxnSpPr>
        <p:spPr>
          <a:xfrm>
            <a:off x="597699" y="1725199"/>
            <a:ext cx="385940" cy="0"/>
          </a:xfrm>
          <a:prstGeom prst="line">
            <a:avLst/>
          </a:prstGeom>
          <a:ln w="9525">
            <a:solidFill>
              <a:srgbClr val="DF6012"/>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2821354" y="4549023"/>
            <a:ext cx="760675" cy="226136"/>
          </a:xfrm>
          <a:prstGeom prst="rect">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0" name="矩形 9"/>
          <p:cNvSpPr/>
          <p:nvPr/>
        </p:nvSpPr>
        <p:spPr>
          <a:xfrm>
            <a:off x="2821354" y="3039944"/>
            <a:ext cx="760675" cy="226136"/>
          </a:xfrm>
          <a:prstGeom prst="rect">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graphicFrame>
        <p:nvGraphicFramePr>
          <p:cNvPr id="16" name="对象 15"/>
          <p:cNvGraphicFramePr>
            <a:graphicFrameLocks noChangeAspect="1"/>
          </p:cNvGraphicFramePr>
          <p:nvPr>
            <p:extLst>
              <p:ext uri="{D42A27DB-BD31-4B8C-83A1-F6EECF244321}">
                <p14:modId xmlns:p14="http://schemas.microsoft.com/office/powerpoint/2010/main" val="3327400311"/>
              </p:ext>
            </p:extLst>
          </p:nvPr>
        </p:nvGraphicFramePr>
        <p:xfrm>
          <a:off x="9613392" y="953674"/>
          <a:ext cx="914400" cy="771525"/>
        </p:xfrm>
        <a:graphic>
          <a:graphicData uri="http://schemas.openxmlformats.org/presentationml/2006/ole">
            <mc:AlternateContent xmlns:mc="http://schemas.openxmlformats.org/markup-compatibility/2006">
              <mc:Choice xmlns:v="urn:schemas-microsoft-com:vml" Requires="v">
                <p:oleObj spid="_x0000_s1067" name="Acrobat Document" showAsIcon="1" r:id="rId4" imgW="914400" imgH="771480" progId="AcroExch.Document.11">
                  <p:embed/>
                </p:oleObj>
              </mc:Choice>
              <mc:Fallback>
                <p:oleObj name="Acrobat Document" showAsIcon="1" r:id="rId4" imgW="914400" imgH="771480" progId="AcroExch.Document.11">
                  <p:embed/>
                  <p:pic>
                    <p:nvPicPr>
                      <p:cNvPr id="0" name=""/>
                      <p:cNvPicPr/>
                      <p:nvPr/>
                    </p:nvPicPr>
                    <p:blipFill>
                      <a:blip r:embed="rId5"/>
                      <a:stretch>
                        <a:fillRect/>
                      </a:stretch>
                    </p:blipFill>
                    <p:spPr>
                      <a:xfrm>
                        <a:off x="9613392" y="953674"/>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23793339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2"/>
          <a:stretch>
            <a:fillRect/>
          </a:stretch>
        </p:blipFill>
        <p:spPr>
          <a:xfrm>
            <a:off x="510537" y="1607177"/>
            <a:ext cx="11029950" cy="3905250"/>
          </a:xfrm>
          <a:prstGeom prst="rect">
            <a:avLst/>
          </a:prstGeom>
        </p:spPr>
      </p:pic>
      <p:sp>
        <p:nvSpPr>
          <p:cNvPr id="3" name="TextBox 3"/>
          <p:cNvSpPr txBox="1"/>
          <p:nvPr/>
        </p:nvSpPr>
        <p:spPr>
          <a:xfrm>
            <a:off x="290798" y="186186"/>
            <a:ext cx="5061114" cy="400110"/>
          </a:xfrm>
          <a:prstGeom prst="rect">
            <a:avLst/>
          </a:prstGeom>
          <a:noFill/>
        </p:spPr>
        <p:txBody>
          <a:bodyPr wrap="square" rtlCol="0">
            <a:spAutoFit/>
          </a:bodyPr>
          <a:lstStyle/>
          <a:p>
            <a:r>
              <a:rPr lang="zh-CN" altLang="en-US" sz="2000" b="1" dirty="0" smtClean="0">
                <a:solidFill>
                  <a:srgbClr val="002060"/>
                </a:solidFill>
                <a:latin typeface="微软雅黑" pitchFamily="34" charset="-122"/>
                <a:ea typeface="微软雅黑" pitchFamily="34" charset="-122"/>
                <a:cs typeface="+mj-cs"/>
              </a:rPr>
              <a:t>项目日程计划</a:t>
            </a:r>
            <a:endParaRPr lang="zh-CN" altLang="en-US" sz="1200" b="1" dirty="0"/>
          </a:p>
        </p:txBody>
      </p:sp>
      <p:sp>
        <p:nvSpPr>
          <p:cNvPr id="4" name="TextBox 8"/>
          <p:cNvSpPr txBox="1"/>
          <p:nvPr/>
        </p:nvSpPr>
        <p:spPr>
          <a:xfrm>
            <a:off x="510537" y="1254323"/>
            <a:ext cx="9275810" cy="352854"/>
          </a:xfrm>
          <a:prstGeom prst="rect">
            <a:avLst/>
          </a:prstGeom>
          <a:noFill/>
        </p:spPr>
        <p:txBody>
          <a:bodyPr wrap="square" rtlCol="0">
            <a:spAutoFit/>
          </a:bodyPr>
          <a:lstStyle/>
          <a:p>
            <a:pPr defTabSz="914216"/>
            <a:r>
              <a:rPr lang="en-US" altLang="zh-CN" sz="1693" dirty="0" smtClean="0">
                <a:solidFill>
                  <a:srgbClr val="2C4058"/>
                </a:solidFill>
                <a:latin typeface="微软雅黑" pitchFamily="34" charset="-122"/>
                <a:ea typeface="微软雅黑" pitchFamily="34" charset="-122"/>
              </a:rPr>
              <a:t>UE/UI</a:t>
            </a:r>
            <a:r>
              <a:rPr lang="zh-CN" altLang="en-US" sz="1693" dirty="0" smtClean="0">
                <a:solidFill>
                  <a:srgbClr val="2C4058"/>
                </a:solidFill>
                <a:latin typeface="微软雅黑" pitchFamily="34" charset="-122"/>
                <a:ea typeface="微软雅黑" pitchFamily="34" charset="-122"/>
              </a:rPr>
              <a:t>优化的日程计划及与后端开发的配合</a:t>
            </a:r>
            <a:endParaRPr lang="en-US" altLang="zh-CN" sz="1693" dirty="0">
              <a:solidFill>
                <a:srgbClr val="2C4058"/>
              </a:solidFill>
              <a:latin typeface="微软雅黑" pitchFamily="34" charset="-122"/>
              <a:ea typeface="微软雅黑" pitchFamily="34" charset="-122"/>
            </a:endParaRPr>
          </a:p>
        </p:txBody>
      </p:sp>
      <p:cxnSp>
        <p:nvCxnSpPr>
          <p:cNvPr id="6" name="直线连接符 7"/>
          <p:cNvCxnSpPr/>
          <p:nvPr/>
        </p:nvCxnSpPr>
        <p:spPr>
          <a:xfrm>
            <a:off x="597699" y="1725199"/>
            <a:ext cx="385940" cy="0"/>
          </a:xfrm>
          <a:prstGeom prst="line">
            <a:avLst/>
          </a:prstGeom>
          <a:ln w="9525">
            <a:solidFill>
              <a:srgbClr val="DF6012"/>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2821354" y="4549023"/>
            <a:ext cx="760675" cy="226136"/>
          </a:xfrm>
          <a:prstGeom prst="rect">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0" name="矩形 9"/>
          <p:cNvSpPr/>
          <p:nvPr/>
        </p:nvSpPr>
        <p:spPr>
          <a:xfrm>
            <a:off x="2821354" y="3039944"/>
            <a:ext cx="760675" cy="226136"/>
          </a:xfrm>
          <a:prstGeom prst="rect">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4232334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90798" y="186186"/>
            <a:ext cx="5061114" cy="400110"/>
          </a:xfrm>
          <a:prstGeom prst="rect">
            <a:avLst/>
          </a:prstGeom>
          <a:noFill/>
        </p:spPr>
        <p:txBody>
          <a:bodyPr wrap="square" rtlCol="0">
            <a:spAutoFit/>
          </a:bodyPr>
          <a:lstStyle/>
          <a:p>
            <a:r>
              <a:rPr lang="zh-CN" altLang="en-US" sz="2000" b="1" dirty="0">
                <a:solidFill>
                  <a:srgbClr val="002060"/>
                </a:solidFill>
                <a:latin typeface="微软雅黑" pitchFamily="34" charset="-122"/>
                <a:ea typeface="微软雅黑" pitchFamily="34" charset="-122"/>
                <a:cs typeface="+mj-cs"/>
              </a:rPr>
              <a:t>系统</a:t>
            </a:r>
            <a:r>
              <a:rPr lang="zh-CN" altLang="en-US" sz="2000" b="1" dirty="0" smtClean="0">
                <a:solidFill>
                  <a:srgbClr val="002060"/>
                </a:solidFill>
                <a:latin typeface="微软雅黑" pitchFamily="34" charset="-122"/>
                <a:ea typeface="微软雅黑" pitchFamily="34" charset="-122"/>
                <a:cs typeface="+mj-cs"/>
              </a:rPr>
              <a:t>架构设计</a:t>
            </a:r>
            <a:r>
              <a:rPr lang="en-US" altLang="zh-CN" sz="2000" b="1" dirty="0" smtClean="0">
                <a:solidFill>
                  <a:srgbClr val="002060"/>
                </a:solidFill>
                <a:latin typeface="微软雅黑" pitchFamily="34" charset="-122"/>
                <a:ea typeface="微软雅黑" pitchFamily="34" charset="-122"/>
                <a:cs typeface="+mj-cs"/>
              </a:rPr>
              <a:t>——</a:t>
            </a:r>
            <a:r>
              <a:rPr lang="zh-CN" altLang="en-US" sz="2000" b="1" dirty="0" smtClean="0">
                <a:solidFill>
                  <a:srgbClr val="002060"/>
                </a:solidFill>
                <a:latin typeface="微软雅黑" pitchFamily="34" charset="-122"/>
                <a:ea typeface="微软雅黑" pitchFamily="34" charset="-122"/>
                <a:cs typeface="+mj-cs"/>
              </a:rPr>
              <a:t>前端</a:t>
            </a:r>
            <a:r>
              <a:rPr lang="en-US" altLang="zh-CN" sz="2000" b="1" dirty="0" smtClean="0">
                <a:solidFill>
                  <a:srgbClr val="002060"/>
                </a:solidFill>
                <a:latin typeface="微软雅黑" pitchFamily="34" charset="-122"/>
                <a:ea typeface="微软雅黑" pitchFamily="34" charset="-122"/>
                <a:cs typeface="+mj-cs"/>
              </a:rPr>
              <a:t>MPA</a:t>
            </a:r>
            <a:r>
              <a:rPr lang="zh-CN" altLang="en-US" sz="2000" b="1" dirty="0" smtClean="0">
                <a:solidFill>
                  <a:srgbClr val="002060"/>
                </a:solidFill>
                <a:latin typeface="微软雅黑" pitchFamily="34" charset="-122"/>
                <a:ea typeface="微软雅黑" pitchFamily="34" charset="-122"/>
                <a:cs typeface="+mj-cs"/>
              </a:rPr>
              <a:t>架构</a:t>
            </a:r>
            <a:endParaRPr lang="zh-CN" altLang="en-US" sz="1200" b="1" dirty="0"/>
          </a:p>
        </p:txBody>
      </p:sp>
      <p:sp>
        <p:nvSpPr>
          <p:cNvPr id="4" name="TextBox 8"/>
          <p:cNvSpPr txBox="1"/>
          <p:nvPr/>
        </p:nvSpPr>
        <p:spPr>
          <a:xfrm>
            <a:off x="510537" y="1254323"/>
            <a:ext cx="7767831" cy="352854"/>
          </a:xfrm>
          <a:prstGeom prst="rect">
            <a:avLst/>
          </a:prstGeom>
          <a:noFill/>
        </p:spPr>
        <p:txBody>
          <a:bodyPr wrap="square" rtlCol="0">
            <a:spAutoFit/>
          </a:bodyPr>
          <a:lstStyle/>
          <a:p>
            <a:pPr defTabSz="914216"/>
            <a:r>
              <a:rPr lang="zh-CN" altLang="en-US" sz="1693" dirty="0" smtClean="0">
                <a:solidFill>
                  <a:srgbClr val="2C4058"/>
                </a:solidFill>
                <a:latin typeface="微软雅黑" pitchFamily="34" charset="-122"/>
                <a:ea typeface="微软雅黑" pitchFamily="34" charset="-122"/>
              </a:rPr>
              <a:t>前端及后端系统架构设计是本次优化项目重点之一</a:t>
            </a:r>
            <a:endParaRPr lang="en-US" altLang="zh-CN" sz="1693" dirty="0">
              <a:solidFill>
                <a:srgbClr val="2C4058"/>
              </a:solidFill>
              <a:latin typeface="微软雅黑" pitchFamily="34" charset="-122"/>
              <a:ea typeface="微软雅黑" pitchFamily="34" charset="-122"/>
            </a:endParaRPr>
          </a:p>
        </p:txBody>
      </p:sp>
      <p:sp>
        <p:nvSpPr>
          <p:cNvPr id="5" name="TextBox 8"/>
          <p:cNvSpPr txBox="1"/>
          <p:nvPr/>
        </p:nvSpPr>
        <p:spPr>
          <a:xfrm>
            <a:off x="510537" y="1795294"/>
            <a:ext cx="7676391" cy="483722"/>
          </a:xfrm>
          <a:prstGeom prst="rect">
            <a:avLst/>
          </a:prstGeom>
          <a:noFill/>
        </p:spPr>
        <p:txBody>
          <a:bodyPr wrap="square" rtlCol="0">
            <a:spAutoFit/>
          </a:bodyPr>
          <a:lstStyle/>
          <a:p>
            <a:pPr defTabSz="914216">
              <a:lnSpc>
                <a:spcPts val="1587"/>
              </a:lnSpc>
            </a:pPr>
            <a:r>
              <a:rPr lang="zh-CN" altLang="en-US" sz="1058" spc="85" dirty="0" smtClean="0">
                <a:solidFill>
                  <a:srgbClr val="2C4058"/>
                </a:solidFill>
                <a:latin typeface="微软雅黑" pitchFamily="34" charset="-122"/>
                <a:ea typeface="微软雅黑" pitchFamily="34" charset="-122"/>
              </a:rPr>
              <a:t>本项目采用前后端分离架构，相比原有电商系统，进行了较大规模的改造。从架构，到业务逻辑实现，除数据库中开发的存储过程以外，都进行了重新开发</a:t>
            </a:r>
            <a:r>
              <a:rPr lang="zh-CN" altLang="en-US" sz="1058" spc="85" dirty="0" smtClean="0">
                <a:solidFill>
                  <a:srgbClr val="2C4058"/>
                </a:solidFill>
                <a:latin typeface="微软雅黑" pitchFamily="34" charset="-122"/>
                <a:ea typeface="微软雅黑" pitchFamily="34" charset="-122"/>
              </a:rPr>
              <a:t>。</a:t>
            </a:r>
            <a:endParaRPr lang="en-US" altLang="zh-CN" sz="1058" spc="85" dirty="0" smtClean="0">
              <a:solidFill>
                <a:srgbClr val="2C4058"/>
              </a:solidFill>
              <a:latin typeface="微软雅黑" pitchFamily="34" charset="-122"/>
              <a:ea typeface="微软雅黑" pitchFamily="34" charset="-122"/>
            </a:endParaRPr>
          </a:p>
        </p:txBody>
      </p:sp>
      <p:cxnSp>
        <p:nvCxnSpPr>
          <p:cNvPr id="6" name="直线连接符 7"/>
          <p:cNvCxnSpPr/>
          <p:nvPr/>
        </p:nvCxnSpPr>
        <p:spPr>
          <a:xfrm>
            <a:off x="597699" y="1725199"/>
            <a:ext cx="385940" cy="0"/>
          </a:xfrm>
          <a:prstGeom prst="line">
            <a:avLst/>
          </a:prstGeom>
          <a:ln w="9525">
            <a:solidFill>
              <a:srgbClr val="DF6012"/>
            </a:solidFill>
          </a:ln>
        </p:spPr>
        <p:style>
          <a:lnRef idx="1">
            <a:schemeClr val="accent1"/>
          </a:lnRef>
          <a:fillRef idx="0">
            <a:schemeClr val="accent1"/>
          </a:fillRef>
          <a:effectRef idx="0">
            <a:schemeClr val="accent1"/>
          </a:effectRef>
          <a:fontRef idx="minor">
            <a:schemeClr val="tx1"/>
          </a:fontRef>
        </p:style>
      </p:cxnSp>
      <p:pic>
        <p:nvPicPr>
          <p:cNvPr id="7" name="图片 6"/>
          <p:cNvPicPr/>
          <p:nvPr/>
        </p:nvPicPr>
        <p:blipFill>
          <a:blip r:embed="rId2"/>
          <a:stretch>
            <a:fillRect/>
          </a:stretch>
        </p:blipFill>
        <p:spPr>
          <a:xfrm>
            <a:off x="407172" y="2486113"/>
            <a:ext cx="6577522" cy="3231641"/>
          </a:xfrm>
          <a:prstGeom prst="rect">
            <a:avLst/>
          </a:prstGeom>
        </p:spPr>
      </p:pic>
    </p:spTree>
    <p:extLst>
      <p:ext uri="{BB962C8B-B14F-4D97-AF65-F5344CB8AC3E}">
        <p14:creationId xmlns:p14="http://schemas.microsoft.com/office/powerpoint/2010/main" val="2348598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597699" y="1725199"/>
            <a:ext cx="6770797" cy="4221248"/>
          </a:xfrm>
          <a:prstGeom prst="rect">
            <a:avLst/>
          </a:prstGeom>
        </p:spPr>
      </p:pic>
      <p:sp>
        <p:nvSpPr>
          <p:cNvPr id="3" name="TextBox 3"/>
          <p:cNvSpPr txBox="1"/>
          <p:nvPr/>
        </p:nvSpPr>
        <p:spPr>
          <a:xfrm>
            <a:off x="290798" y="186186"/>
            <a:ext cx="5061114" cy="400110"/>
          </a:xfrm>
          <a:prstGeom prst="rect">
            <a:avLst/>
          </a:prstGeom>
          <a:noFill/>
        </p:spPr>
        <p:txBody>
          <a:bodyPr wrap="square" rtlCol="0">
            <a:spAutoFit/>
          </a:bodyPr>
          <a:lstStyle/>
          <a:p>
            <a:r>
              <a:rPr lang="zh-CN" altLang="en-US" sz="2000" b="1" dirty="0">
                <a:solidFill>
                  <a:srgbClr val="002060"/>
                </a:solidFill>
                <a:latin typeface="微软雅黑" pitchFamily="34" charset="-122"/>
                <a:ea typeface="微软雅黑" pitchFamily="34" charset="-122"/>
                <a:cs typeface="+mj-cs"/>
              </a:rPr>
              <a:t>系统</a:t>
            </a:r>
            <a:r>
              <a:rPr lang="zh-CN" altLang="en-US" sz="2000" b="1" dirty="0" smtClean="0">
                <a:solidFill>
                  <a:srgbClr val="002060"/>
                </a:solidFill>
                <a:latin typeface="微软雅黑" pitchFamily="34" charset="-122"/>
                <a:ea typeface="微软雅黑" pitchFamily="34" charset="-122"/>
                <a:cs typeface="+mj-cs"/>
              </a:rPr>
              <a:t>架构设计</a:t>
            </a:r>
            <a:r>
              <a:rPr lang="en-US" altLang="zh-CN" sz="2000" b="1" dirty="0" smtClean="0">
                <a:solidFill>
                  <a:srgbClr val="002060"/>
                </a:solidFill>
                <a:latin typeface="微软雅黑" pitchFamily="34" charset="-122"/>
                <a:ea typeface="微软雅黑" pitchFamily="34" charset="-122"/>
                <a:cs typeface="+mj-cs"/>
              </a:rPr>
              <a:t>——</a:t>
            </a:r>
            <a:r>
              <a:rPr lang="zh-CN" altLang="en-US" sz="2000" b="1" dirty="0" smtClean="0">
                <a:solidFill>
                  <a:srgbClr val="002060"/>
                </a:solidFill>
                <a:latin typeface="微软雅黑" pitchFamily="34" charset="-122"/>
                <a:ea typeface="微软雅黑" pitchFamily="34" charset="-122"/>
                <a:cs typeface="+mj-cs"/>
              </a:rPr>
              <a:t>后端接口平台架构</a:t>
            </a:r>
            <a:endParaRPr lang="zh-CN" altLang="en-US" sz="1200" b="1" dirty="0"/>
          </a:p>
        </p:txBody>
      </p:sp>
      <p:sp>
        <p:nvSpPr>
          <p:cNvPr id="4" name="TextBox 8"/>
          <p:cNvSpPr txBox="1"/>
          <p:nvPr/>
        </p:nvSpPr>
        <p:spPr>
          <a:xfrm>
            <a:off x="510537" y="1254323"/>
            <a:ext cx="7767831" cy="352854"/>
          </a:xfrm>
          <a:prstGeom prst="rect">
            <a:avLst/>
          </a:prstGeom>
          <a:noFill/>
        </p:spPr>
        <p:txBody>
          <a:bodyPr wrap="square" rtlCol="0">
            <a:spAutoFit/>
          </a:bodyPr>
          <a:lstStyle/>
          <a:p>
            <a:pPr defTabSz="914216"/>
            <a:r>
              <a:rPr lang="zh-CN" altLang="en-US" sz="1693" dirty="0" smtClean="0">
                <a:solidFill>
                  <a:srgbClr val="2C4058"/>
                </a:solidFill>
                <a:latin typeface="微软雅黑" pitchFamily="34" charset="-122"/>
                <a:ea typeface="微软雅黑" pitchFamily="34" charset="-122"/>
              </a:rPr>
              <a:t>前端及后端系统架构设计是本次优化项目重点之一</a:t>
            </a:r>
            <a:endParaRPr lang="en-US" altLang="zh-CN" sz="1693" dirty="0">
              <a:solidFill>
                <a:srgbClr val="2C4058"/>
              </a:solidFill>
              <a:latin typeface="微软雅黑" pitchFamily="34" charset="-122"/>
              <a:ea typeface="微软雅黑" pitchFamily="34" charset="-122"/>
            </a:endParaRPr>
          </a:p>
        </p:txBody>
      </p:sp>
      <p:cxnSp>
        <p:nvCxnSpPr>
          <p:cNvPr id="6" name="直线连接符 7"/>
          <p:cNvCxnSpPr/>
          <p:nvPr/>
        </p:nvCxnSpPr>
        <p:spPr>
          <a:xfrm>
            <a:off x="597699" y="1725199"/>
            <a:ext cx="385940" cy="0"/>
          </a:xfrm>
          <a:prstGeom prst="line">
            <a:avLst/>
          </a:prstGeom>
          <a:ln w="9525">
            <a:solidFill>
              <a:srgbClr val="DF6012"/>
            </a:solidFill>
          </a:ln>
        </p:spPr>
        <p:style>
          <a:lnRef idx="1">
            <a:schemeClr val="accent1"/>
          </a:lnRef>
          <a:fillRef idx="0">
            <a:schemeClr val="accent1"/>
          </a:fillRef>
          <a:effectRef idx="0">
            <a:schemeClr val="accent1"/>
          </a:effectRef>
          <a:fontRef idx="minor">
            <a:schemeClr val="tx1"/>
          </a:fontRef>
        </p:style>
      </p:cxnSp>
      <p:sp>
        <p:nvSpPr>
          <p:cNvPr id="5" name="TextBox 8"/>
          <p:cNvSpPr txBox="1"/>
          <p:nvPr/>
        </p:nvSpPr>
        <p:spPr>
          <a:xfrm>
            <a:off x="7587952" y="1725199"/>
            <a:ext cx="4177328" cy="707886"/>
          </a:xfrm>
          <a:prstGeom prst="rect">
            <a:avLst/>
          </a:prstGeom>
          <a:noFill/>
        </p:spPr>
        <p:txBody>
          <a:bodyPr wrap="square" rtlCol="0">
            <a:spAutoFit/>
          </a:bodyPr>
          <a:lstStyle/>
          <a:p>
            <a:pPr defTabSz="914216">
              <a:lnSpc>
                <a:spcPts val="1587"/>
              </a:lnSpc>
            </a:pPr>
            <a:r>
              <a:rPr lang="zh-CN" altLang="en-US" sz="1058" spc="85" dirty="0" smtClean="0">
                <a:solidFill>
                  <a:srgbClr val="2C4058"/>
                </a:solidFill>
                <a:latin typeface="微软雅黑" pitchFamily="34" charset="-122"/>
                <a:ea typeface="微软雅黑" pitchFamily="34" charset="-122"/>
              </a:rPr>
              <a:t>本项目采用前后端分离架构，相比原有电商系统，进行了较大规模的改造。从架构，到业务逻辑实现，除数据库中开发的存储过程以外，都进行了重新开发。</a:t>
            </a:r>
            <a:endParaRPr lang="en-US" altLang="zh-CN" sz="1058" spc="85" dirty="0">
              <a:solidFill>
                <a:srgbClr val="2C4058"/>
              </a:solidFill>
              <a:latin typeface="微软雅黑" pitchFamily="34" charset="-122"/>
              <a:ea typeface="微软雅黑" pitchFamily="34" charset="-122"/>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2977707587"/>
              </p:ext>
            </p:extLst>
          </p:nvPr>
        </p:nvGraphicFramePr>
        <p:xfrm>
          <a:off x="7748016" y="2828290"/>
          <a:ext cx="914400" cy="771525"/>
        </p:xfrm>
        <a:graphic>
          <a:graphicData uri="http://schemas.openxmlformats.org/presentationml/2006/ole">
            <mc:AlternateContent xmlns:mc="http://schemas.openxmlformats.org/markup-compatibility/2006">
              <mc:Choice xmlns:v="urn:schemas-microsoft-com:vml" Requires="v">
                <p:oleObj spid="_x0000_s2079" name="文档" showAsIcon="1" r:id="rId4" imgW="914400" imgH="771480" progId="Word.Document.12">
                  <p:embed/>
                </p:oleObj>
              </mc:Choice>
              <mc:Fallback>
                <p:oleObj name="文档" showAsIcon="1" r:id="rId4" imgW="914400" imgH="771480" progId="Word.Document.12">
                  <p:embed/>
                  <p:pic>
                    <p:nvPicPr>
                      <p:cNvPr id="0" name=""/>
                      <p:cNvPicPr/>
                      <p:nvPr/>
                    </p:nvPicPr>
                    <p:blipFill>
                      <a:blip r:embed="rId5"/>
                      <a:stretch>
                        <a:fillRect/>
                      </a:stretch>
                    </p:blipFill>
                    <p:spPr>
                      <a:xfrm>
                        <a:off x="7748016" y="2828290"/>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23442913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90798" y="186186"/>
            <a:ext cx="5061114" cy="400110"/>
          </a:xfrm>
          <a:prstGeom prst="rect">
            <a:avLst/>
          </a:prstGeom>
          <a:noFill/>
        </p:spPr>
        <p:txBody>
          <a:bodyPr wrap="square" rtlCol="0">
            <a:spAutoFit/>
          </a:bodyPr>
          <a:lstStyle/>
          <a:p>
            <a:r>
              <a:rPr lang="zh-CN" altLang="en-US" sz="2000" b="1" dirty="0" smtClean="0">
                <a:solidFill>
                  <a:srgbClr val="002060"/>
                </a:solidFill>
                <a:latin typeface="微软雅黑" pitchFamily="34" charset="-122"/>
                <a:ea typeface="微软雅黑" pitchFamily="34" charset="-122"/>
                <a:cs typeface="+mj-cs"/>
              </a:rPr>
              <a:t>开发过程管理</a:t>
            </a:r>
            <a:endParaRPr lang="zh-CN" altLang="en-US" sz="1200" b="1" dirty="0"/>
          </a:p>
        </p:txBody>
      </p:sp>
      <p:sp>
        <p:nvSpPr>
          <p:cNvPr id="4" name="TextBox 8"/>
          <p:cNvSpPr txBox="1"/>
          <p:nvPr/>
        </p:nvSpPr>
        <p:spPr>
          <a:xfrm>
            <a:off x="510537" y="1254323"/>
            <a:ext cx="2701763" cy="352854"/>
          </a:xfrm>
          <a:prstGeom prst="rect">
            <a:avLst/>
          </a:prstGeom>
          <a:noFill/>
        </p:spPr>
        <p:txBody>
          <a:bodyPr wrap="square" rtlCol="0">
            <a:spAutoFit/>
          </a:bodyPr>
          <a:lstStyle/>
          <a:p>
            <a:pPr defTabSz="914216"/>
            <a:r>
              <a:rPr lang="en-US" altLang="zh-CN" sz="1693" dirty="0" smtClean="0">
                <a:solidFill>
                  <a:srgbClr val="2C4058"/>
                </a:solidFill>
                <a:latin typeface="微软雅黑" pitchFamily="34" charset="-122"/>
                <a:ea typeface="微软雅黑" pitchFamily="34" charset="-122"/>
              </a:rPr>
              <a:t>SVN Branch Model</a:t>
            </a:r>
            <a:endParaRPr lang="en-US" altLang="zh-CN" sz="1693" dirty="0">
              <a:solidFill>
                <a:srgbClr val="2C4058"/>
              </a:solidFill>
              <a:latin typeface="微软雅黑" pitchFamily="34" charset="-122"/>
              <a:ea typeface="微软雅黑" pitchFamily="34" charset="-122"/>
            </a:endParaRPr>
          </a:p>
        </p:txBody>
      </p:sp>
      <p:cxnSp>
        <p:nvCxnSpPr>
          <p:cNvPr id="6" name="直线连接符 7"/>
          <p:cNvCxnSpPr/>
          <p:nvPr/>
        </p:nvCxnSpPr>
        <p:spPr>
          <a:xfrm>
            <a:off x="597699" y="1725199"/>
            <a:ext cx="385940" cy="0"/>
          </a:xfrm>
          <a:prstGeom prst="line">
            <a:avLst/>
          </a:prstGeom>
          <a:ln w="9525">
            <a:solidFill>
              <a:srgbClr val="DF6012"/>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639" y="1725199"/>
            <a:ext cx="5953044" cy="4150804"/>
          </a:xfrm>
          <a:prstGeom prst="rect">
            <a:avLst/>
          </a:prstGeom>
        </p:spPr>
      </p:pic>
      <p:graphicFrame>
        <p:nvGraphicFramePr>
          <p:cNvPr id="8" name="对象 7"/>
          <p:cNvGraphicFramePr>
            <a:graphicFrameLocks noChangeAspect="1"/>
          </p:cNvGraphicFramePr>
          <p:nvPr>
            <p:extLst>
              <p:ext uri="{D42A27DB-BD31-4B8C-83A1-F6EECF244321}">
                <p14:modId xmlns:p14="http://schemas.microsoft.com/office/powerpoint/2010/main" val="4175783615"/>
              </p:ext>
            </p:extLst>
          </p:nvPr>
        </p:nvGraphicFramePr>
        <p:xfrm>
          <a:off x="6022283" y="1280426"/>
          <a:ext cx="914400" cy="771525"/>
        </p:xfrm>
        <a:graphic>
          <a:graphicData uri="http://schemas.openxmlformats.org/presentationml/2006/ole">
            <mc:AlternateContent xmlns:mc="http://schemas.openxmlformats.org/markup-compatibility/2006">
              <mc:Choice xmlns:v="urn:schemas-microsoft-com:vml" Requires="v">
                <p:oleObj spid="_x0000_s3101" name="文档" showAsIcon="1" r:id="rId4" imgW="914400" imgH="771480" progId="Word.Document.12">
                  <p:embed/>
                </p:oleObj>
              </mc:Choice>
              <mc:Fallback>
                <p:oleObj name="文档" showAsIcon="1" r:id="rId4" imgW="914400" imgH="771480" progId="Word.Document.12">
                  <p:embed/>
                  <p:pic>
                    <p:nvPicPr>
                      <p:cNvPr id="0" name=""/>
                      <p:cNvPicPr/>
                      <p:nvPr/>
                    </p:nvPicPr>
                    <p:blipFill>
                      <a:blip r:embed="rId5"/>
                      <a:stretch>
                        <a:fillRect/>
                      </a:stretch>
                    </p:blipFill>
                    <p:spPr>
                      <a:xfrm>
                        <a:off x="6022283" y="1280426"/>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22223520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2"/>
          <a:stretch>
            <a:fillRect/>
          </a:stretch>
        </p:blipFill>
        <p:spPr>
          <a:xfrm>
            <a:off x="6156960" y="1751208"/>
            <a:ext cx="5681478" cy="3835871"/>
          </a:xfrm>
          <a:prstGeom prst="rect">
            <a:avLst/>
          </a:prstGeom>
        </p:spPr>
      </p:pic>
      <p:sp>
        <p:nvSpPr>
          <p:cNvPr id="3" name="TextBox 3"/>
          <p:cNvSpPr txBox="1"/>
          <p:nvPr/>
        </p:nvSpPr>
        <p:spPr>
          <a:xfrm>
            <a:off x="290798" y="186186"/>
            <a:ext cx="5061114" cy="400110"/>
          </a:xfrm>
          <a:prstGeom prst="rect">
            <a:avLst/>
          </a:prstGeom>
          <a:noFill/>
        </p:spPr>
        <p:txBody>
          <a:bodyPr wrap="square" rtlCol="0">
            <a:spAutoFit/>
          </a:bodyPr>
          <a:lstStyle/>
          <a:p>
            <a:r>
              <a:rPr lang="zh-CN" altLang="en-US" sz="2000" b="1" dirty="0" smtClean="0">
                <a:solidFill>
                  <a:srgbClr val="002060"/>
                </a:solidFill>
                <a:latin typeface="微软雅黑" pitchFamily="34" charset="-122"/>
                <a:ea typeface="微软雅黑" pitchFamily="34" charset="-122"/>
                <a:cs typeface="+mj-cs"/>
              </a:rPr>
              <a:t>开发过程管理</a:t>
            </a:r>
            <a:endParaRPr lang="zh-CN" altLang="en-US" sz="1200" b="1" dirty="0"/>
          </a:p>
        </p:txBody>
      </p:sp>
      <p:sp>
        <p:nvSpPr>
          <p:cNvPr id="4" name="TextBox 8"/>
          <p:cNvSpPr txBox="1"/>
          <p:nvPr/>
        </p:nvSpPr>
        <p:spPr>
          <a:xfrm>
            <a:off x="510537" y="1254323"/>
            <a:ext cx="8712711" cy="352854"/>
          </a:xfrm>
          <a:prstGeom prst="rect">
            <a:avLst/>
          </a:prstGeom>
          <a:noFill/>
        </p:spPr>
        <p:txBody>
          <a:bodyPr wrap="square" rtlCol="0">
            <a:spAutoFit/>
          </a:bodyPr>
          <a:lstStyle/>
          <a:p>
            <a:pPr defTabSz="914216"/>
            <a:r>
              <a:rPr lang="en-US" altLang="zh-CN" sz="1693" dirty="0" smtClean="0">
                <a:solidFill>
                  <a:srgbClr val="2C4058"/>
                </a:solidFill>
                <a:latin typeface="微软雅黑" pitchFamily="34" charset="-122"/>
                <a:ea typeface="微软雅黑" pitchFamily="34" charset="-122"/>
              </a:rPr>
              <a:t>Continuous Inspect ——</a:t>
            </a:r>
            <a:r>
              <a:rPr lang="zh-CN" altLang="en-US" sz="1693" dirty="0" smtClean="0">
                <a:solidFill>
                  <a:srgbClr val="2C4058"/>
                </a:solidFill>
                <a:latin typeface="微软雅黑" pitchFamily="34" charset="-122"/>
                <a:ea typeface="微软雅黑" pitchFamily="34" charset="-122"/>
              </a:rPr>
              <a:t>集成自动化测试报告、静态代码检查以及团队协作功能</a:t>
            </a:r>
            <a:endParaRPr lang="en-US" altLang="zh-CN" sz="1693" dirty="0">
              <a:solidFill>
                <a:srgbClr val="2C4058"/>
              </a:solidFill>
              <a:latin typeface="微软雅黑" pitchFamily="34" charset="-122"/>
              <a:ea typeface="微软雅黑" pitchFamily="34" charset="-122"/>
            </a:endParaRPr>
          </a:p>
        </p:txBody>
      </p:sp>
      <p:cxnSp>
        <p:nvCxnSpPr>
          <p:cNvPr id="6" name="直线连接符 7"/>
          <p:cNvCxnSpPr/>
          <p:nvPr/>
        </p:nvCxnSpPr>
        <p:spPr>
          <a:xfrm>
            <a:off x="597699" y="1725199"/>
            <a:ext cx="385940" cy="0"/>
          </a:xfrm>
          <a:prstGeom prst="line">
            <a:avLst/>
          </a:prstGeom>
          <a:ln w="9525">
            <a:solidFill>
              <a:srgbClr val="DF6012"/>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3"/>
          <a:stretch>
            <a:fillRect/>
          </a:stretch>
        </p:blipFill>
        <p:spPr>
          <a:xfrm>
            <a:off x="510537" y="2045110"/>
            <a:ext cx="4911833" cy="3541969"/>
          </a:xfrm>
          <a:prstGeom prst="rect">
            <a:avLst/>
          </a:prstGeom>
        </p:spPr>
      </p:pic>
      <p:sp>
        <p:nvSpPr>
          <p:cNvPr id="14" name="右箭头 13"/>
          <p:cNvSpPr/>
          <p:nvPr/>
        </p:nvSpPr>
        <p:spPr>
          <a:xfrm rot="10800000">
            <a:off x="5730240" y="4557953"/>
            <a:ext cx="682752" cy="2255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237866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935" y="6612631"/>
            <a:ext cx="12190133" cy="260608"/>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66"/>
          </a:p>
        </p:txBody>
      </p:sp>
    </p:spTree>
    <p:extLst>
      <p:ext uri="{BB962C8B-B14F-4D97-AF65-F5344CB8AC3E}">
        <p14:creationId xmlns:p14="http://schemas.microsoft.com/office/powerpoint/2010/main" val="1612680904"/>
      </p:ext>
    </p:extLst>
  </p:cSld>
  <p:clrMapOvr>
    <a:masterClrMapping/>
  </p:clrMapOvr>
  <p:timing>
    <p:tnLst>
      <p:par>
        <p:cTn id="1" dur="indefinite" restart="never" nodeType="tmRoot"/>
      </p:par>
    </p:tnLst>
  </p:timing>
</p:sld>
</file>

<file path=ppt/theme/theme1.xml><?xml version="1.0" encoding="utf-8"?>
<a:theme xmlns:a="http://schemas.openxmlformats.org/drawingml/2006/main" name="招商财富标准母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3308</TotalTime>
  <Words>375</Words>
  <Application>Microsoft Office PowerPoint</Application>
  <PresentationFormat>宽屏</PresentationFormat>
  <Paragraphs>33</Paragraphs>
  <Slides>10</Slides>
  <Notes>2</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vt:i4>
      </vt:variant>
      <vt:variant>
        <vt:lpstr>幻灯片标题</vt:lpstr>
      </vt:variant>
      <vt:variant>
        <vt:i4>10</vt:i4>
      </vt:variant>
    </vt:vector>
  </HeadingPairs>
  <TitlesOfParts>
    <vt:vector size="22" baseType="lpstr">
      <vt:lpstr>宋体</vt:lpstr>
      <vt:lpstr>Microsoft YaHei</vt:lpstr>
      <vt:lpstr>Microsoft YaHei</vt:lpstr>
      <vt:lpstr>Arial</vt:lpstr>
      <vt:lpstr>Calibri</vt:lpstr>
      <vt:lpstr>Impact</vt:lpstr>
      <vt:lpstr>Segoe UI</vt:lpstr>
      <vt:lpstr>Wingdings</vt:lpstr>
      <vt:lpstr>招商财富标准母版</vt:lpstr>
      <vt:lpstr>Acrobat Document</vt:lpstr>
      <vt:lpstr>Microsoft Word 文档</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Lenovo</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林琳</dc:creator>
  <cp:lastModifiedBy>陈广华</cp:lastModifiedBy>
  <cp:revision>97</cp:revision>
  <dcterms:created xsi:type="dcterms:W3CDTF">2018-12-03T02:49:31Z</dcterms:created>
  <dcterms:modified xsi:type="dcterms:W3CDTF">2019-04-22T05:49:04Z</dcterms:modified>
</cp:coreProperties>
</file>